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1C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  <a:latin typeface="Calibri"/>
              </a:defRPr>
            </a:pPr>
            <a:r>
              <a:t>CRISPRArchitect v3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1B9E77"/>
                </a:solidFill>
                <a:latin typeface="Calibri"/>
              </a:defRPr>
            </a:pPr>
            <a:r>
              <a:t>Multi-Nuclease Decision Support for</a:t>
            </a:r>
            <a:br/>
            <a:r>
              <a:t>Genome Editing Strategy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95F02"/>
                </a:solidFill>
                <a:latin typeface="Calibri"/>
              </a:defRPr>
            </a:pPr>
            <a:r>
              <a:t>TOPSIS Multi-Criteria Ranking  |  Pareto Analysis  |  Sensitivity Quantification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931920"/>
            <a:ext cx="2743200" cy="27432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2062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8EEF4"/>
                </a:solidFill>
                <a:latin typeface="Calibri"/>
              </a:defRPr>
            </a:pPr>
            <a:r>
              <a:t>Vishal Bharti  |  Debojyoti Chakraborty Lab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091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99AA"/>
                </a:solidFill>
                <a:latin typeface="Calibri"/>
              </a:defRPr>
            </a:pPr>
            <a:r>
              <a:t>CSIR-Institute of Genomics and Integrative Biology, New Delhi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99AA"/>
                </a:solidFill>
                <a:latin typeface="Calibri"/>
              </a:defRPr>
            </a:pPr>
            <a:r>
              <a:t>Lab Meeting  |  April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5303520"/>
            <a:ext cx="1188720" cy="4572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534924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8899AA"/>
                </a:solidFill>
                <a:latin typeface="Calibri"/>
              </a:defRPr>
            </a:pPr>
            <a:r>
              <a:t>v1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92640" y="5303520"/>
            <a:ext cx="1188720" cy="4572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0" y="534924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B9E77"/>
                </a:solidFill>
                <a:latin typeface="Calibri"/>
              </a:defRPr>
            </a:pPr>
            <a:r>
              <a:t>v2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55680" y="5303520"/>
            <a:ext cx="1188720" cy="4572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155680" y="534924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D95F02"/>
                </a:solidFill>
                <a:latin typeface="Calibri"/>
              </a:defRPr>
            </a:pPr>
            <a:r>
              <a:t>v3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1/26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Why do we need a unified editing framework?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7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700" b="0">
                <a:solidFill>
                  <a:srgbClr val="FFFFFF"/>
                </a:solidFill>
                <a:latin typeface="Calibri"/>
              </a:rPr>
              <a:t>Multiple modalities (BE, PE, HDR) with distinct constraints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7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700" b="0">
                <a:solidFill>
                  <a:srgbClr val="FFFFFF"/>
                </a:solidFill>
                <a:latin typeface="Calibri"/>
              </a:rPr>
              <a:t>No tool compares all three modalities side by side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7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700" b="0">
                <a:solidFill>
                  <a:srgbClr val="FFFFFF"/>
                </a:solidFill>
                <a:latin typeface="Calibri"/>
              </a:rPr>
              <a:t>PAM + editing window is a hidden bottleneck (our key finding)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7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700" b="0">
                <a:solidFill>
                  <a:srgbClr val="FFFFFF"/>
                </a:solidFill>
                <a:latin typeface="Calibri"/>
              </a:rPr>
              <a:t>iPSCs are p53-active: DSBs kill most cells (Ihry et al., 2018)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7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700" b="0">
                <a:solidFill>
                  <a:srgbClr val="FFFFFF"/>
                </a:solidFill>
                <a:latin typeface="Calibri"/>
              </a:rPr>
              <a:t>Multi-nuclease options expand the design space enormously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7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700" b="0">
                <a:solidFill>
                  <a:srgbClr val="FFFFFF"/>
                </a:solidFill>
                <a:latin typeface="Calibri"/>
              </a:rPr>
              <a:t>Clinical applications demand transparent, auditable decisions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463040"/>
            <a:ext cx="5029200" cy="118872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5544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9E77"/>
                </a:solidFill>
                <a:latin typeface="Calibri"/>
              </a:defRPr>
            </a:pPr>
            <a:r>
              <a:t>Base Editing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9659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A&gt;G or C&gt;T only, narrow window (4-8 nt)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926080"/>
            <a:ext cx="5029200" cy="118872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301752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95F02"/>
                </a:solidFill>
                <a:latin typeface="Calibri"/>
              </a:defRPr>
            </a:pPr>
            <a:r>
              <a:t>Prime Editing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342900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Any edit, no DSB, complex pegRNA design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4389120"/>
            <a:ext cx="5029200" cy="118872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448056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C107"/>
                </a:solidFill>
                <a:latin typeface="Calibri"/>
              </a:defRPr>
            </a:pPr>
            <a:r>
              <a:t>HDR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489204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DSB required, p53 toxicity in iPSCs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2/26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What is CRISPRArchitect?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A decision-support tool, not a predictive optimizer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1">
                <a:solidFill>
                  <a:srgbClr val="FFFFFF"/>
                </a:solidFill>
                <a:latin typeface="Calibri"/>
              </a:rPr>
              <a:t>Input: pathogenic variant(s) in HGVS notation or genomic coordinates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Automatically fetches transcript structure from Ensembl (GRCh38)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Maps variant to CDS, annotates coding consequence (ACMG standards)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Scans for PAM sites across 5 nucleases, evaluates 9 base editor profiles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Assesses feasibility of BE, PE, and HDR with locus-specific constraints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1">
                <a:solidFill>
                  <a:srgbClr val="FFFFFF"/>
                </a:solidFill>
                <a:latin typeface="Calibri"/>
              </a:rPr>
              <a:t>Output: ranked strategies with TOPSIS scores, Pareto analysis,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1">
                <a:solidFill>
                  <a:srgbClr val="FFFFFF"/>
                </a:solidFill>
                <a:latin typeface="Calibri"/>
              </a:rPr>
              <a:t>         sensitivity quantification, and explicit rejection reasons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Transparent: every score, weight, and parameter has documented provenance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3/26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Pipeline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10-stage end-to-end workflow from variant input to ranked recommendations</a:t>
            </a:r>
          </a:p>
        </p:txBody>
      </p:sp>
      <p:pic>
        <p:nvPicPr>
          <p:cNvPr id="5" name="Picture 4" descr="Fig_Pipeline_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188720"/>
            <a:ext cx="7589520" cy="5486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4/26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v1 Foundation: 6 Simulation Modules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~24,000 lines of code | Monte Carlo biophysical simulations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3566160" cy="210312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087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9E77"/>
                </a:solidFill>
                <a:latin typeface="Calibri"/>
              </a:defRPr>
            </a:pPr>
            <a:r>
              <a:t>ConversionSim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2024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Gene conversion tract simulation (SDSA pathway)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43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9AA"/>
                </a:solidFill>
                <a:latin typeface="Calibri"/>
              </a:defRPr>
            </a:pPr>
            <a:r>
              <a:t>Method: Monte Carlo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1371600"/>
            <a:ext cx="3566160" cy="210312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5087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9E77"/>
                </a:solidFill>
                <a:latin typeface="Calibri"/>
              </a:defRPr>
            </a:pPr>
            <a:r>
              <a:t>MOSAIC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192024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Multi-locus strategy optimizer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743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9AA"/>
                </a:solidFill>
                <a:latin typeface="Calibri"/>
              </a:defRPr>
            </a:pPr>
            <a:r>
              <a:t>Method: Decision engine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1371600"/>
            <a:ext cx="3566160" cy="210312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0" y="15087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9E77"/>
                </a:solidFill>
                <a:latin typeface="Calibri"/>
              </a:defRPr>
            </a:pPr>
            <a:r>
              <a:t>ChromBridge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192024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3D chromatin distance predictor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2743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9AA"/>
                </a:solidFill>
                <a:latin typeface="Calibri"/>
              </a:defRPr>
            </a:pPr>
            <a:r>
              <a:t>Method: Polymer physics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931920"/>
            <a:ext cx="3566160" cy="210312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0690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9E77"/>
                </a:solidFill>
                <a:latin typeface="Calibri"/>
              </a:defRPr>
            </a:pPr>
            <a:r>
              <a:t>TopoPred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48056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cssDNA secondary structure analyzer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3035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9AA"/>
                </a:solidFill>
                <a:latin typeface="Calibri"/>
              </a:defRPr>
            </a:pPr>
            <a:r>
              <a:t>Method: Thermodynamics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3931920"/>
            <a:ext cx="3566160" cy="210312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63440" y="40690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9E77"/>
                </a:solidFill>
                <a:latin typeface="Calibri"/>
              </a:defRPr>
            </a:pPr>
            <a:r>
              <a:t>LoopSim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448056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Cohesin loop extrusion simulator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53035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9AA"/>
                </a:solidFill>
                <a:latin typeface="Calibri"/>
              </a:defRPr>
            </a:pPr>
            <a:r>
              <a:t>Method: Stochastic 1D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21040" y="3931920"/>
            <a:ext cx="3566160" cy="210312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0" y="40690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9E77"/>
                </a:solidFill>
                <a:latin typeface="Calibri"/>
              </a:defRPr>
            </a:pPr>
            <a:r>
              <a:t>WebApp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448056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Interactive Streamlit interface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0" y="53035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9AA"/>
                </a:solidFill>
                <a:latin typeface="Calibri"/>
              </a:defRPr>
            </a:pPr>
            <a:r>
              <a:t>Method: 7 analysis pages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5/26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v2: Transcript-Aware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~9,400 LOC | 30 ClinVar benchmark cases | 123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Ensembl REST API integration (GRCh38 coordinates)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Reference allele validation against genome sequence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Coding consequence annotation (ACMG standards)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PAM-verified feasibility: BE, PE, HDR engines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Weighted-sum scoring with consequence adjustments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30-case ClinVar benchmark: 86.7% top-1 accuracy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371600"/>
            <a:ext cx="5029200" cy="45720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5544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9E77"/>
                </a:solidFill>
                <a:latin typeface="Calibri"/>
              </a:defRPr>
            </a:pPr>
            <a:r>
              <a:t>v2 Benchmark 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103120"/>
            <a:ext cx="46634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Top-1 accuracy: 86.7% (26/30)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>Top-3 accuracy: 96.7% (29/30)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8899AA"/>
                </a:solidFill>
                <a:latin typeface="Calibri"/>
              </a:rPr>
              <a:t>Strategy distribution:</a:t>
            </a:r>
          </a:p>
          <a:p>
            <a:pPr>
              <a:lnSpc>
                <a:spcPct val="130000"/>
              </a:lnSpc>
            </a:pPr>
            <a:r>
              <a:rPr sz="1500" b="1">
                <a:solidFill>
                  <a:srgbClr val="D95F02"/>
                </a:solidFill>
                <a:latin typeface="Calibri"/>
              </a:rPr>
              <a:t>  PE: 29/30 (96.7%)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FFC107"/>
                </a:solidFill>
                <a:latin typeface="Calibri"/>
              </a:rPr>
              <a:t>  HDR: 1/30 (3.3%)</a:t>
            </a:r>
          </a:p>
          <a:p>
            <a:pPr>
              <a:lnSpc>
                <a:spcPct val="130000"/>
              </a:lnSpc>
            </a:pPr>
            <a:r>
              <a:rPr sz="1500" b="1">
                <a:solidFill>
                  <a:srgbClr val="E74C3C"/>
                </a:solidFill>
                <a:latin typeface="Calibri"/>
              </a:rPr>
              <a:t>  BE: 0/30 (0.0%)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30000"/>
              </a:lnSpc>
            </a:pPr>
            <a:r>
              <a:rPr sz="1500" b="1">
                <a:solidFill>
                  <a:srgbClr val="E74C3C"/>
                </a:solidFill>
                <a:latin typeface="Calibri"/>
              </a:rPr>
              <a:t>Problem: PE always wins.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E74C3C"/>
                </a:solidFill>
                <a:latin typeface="Calibri"/>
              </a:rPr>
              <a:t>Even at ABE-compatible loci!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6/26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E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457200"/>
          </a:xfrm>
          <a:prstGeom prst="roundRect">
            <a:avLst/>
          </a:pr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4572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v2 KEY FINDING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PAM-Window Is the Real Bottleneck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The most important result from v2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54480"/>
            <a:ext cx="10789920" cy="1828800"/>
          </a:xfrm>
          <a:prstGeom prst="roundRect">
            <a:avLst/>
          </a:prstGeom>
          <a:solidFill>
            <a:srgbClr val="2A15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D95F02"/>
                </a:solidFill>
                <a:latin typeface="Calibri"/>
              </a:defRPr>
            </a:pPr>
            <a:r>
              <a:t>At ALL 7 ClinVar loci with ABE-compatible transitions,</a:t>
            </a:r>
            <a:br/>
            <a:r>
              <a:t>NO SpCas9 guide placed the target base within ABE positions 4-7.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FFFFFF"/>
                </a:solidFill>
                <a:latin typeface="Calibri"/>
              </a:defRPr>
            </a:pPr>
            <a:r>
              <a:t>Mutation-type classification alone is INSUFFICIENT for strategy selection.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4048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D95F02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A&gt;G does NOT mean ABE will work at that locus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D95F02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The PAM must position the target A at protospacer position 4-7 (ABE7.10)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D95F02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This motivated v3: broader PAM nucleases + wider editing windows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7/26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457200"/>
          </a:xfrm>
          <a:prstGeom prst="roundRect">
            <a:avLst/>
          </a:pr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4572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VERSION 3.0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What's New in v3?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Three major capabilities + scientific rigor overhaul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54480"/>
            <a:ext cx="3474720" cy="41148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B9E77"/>
                </a:solidFill>
                <a:latin typeface="Calibri"/>
              </a:defRPr>
            </a:pPr>
            <a:r>
              <a:t>Multi-Nuclease</a:t>
            </a:r>
            <a:br/>
            <a:r>
              <a:t>Engine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2743200"/>
            <a:ext cx="256032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2608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  <a:latin typeface="Calibri"/>
              </a:defRPr>
            </a:pPr>
            <a:r>
              <a:t>5 nucleases × 9 editor profiles</a:t>
            </a:r>
            <a:br/>
            <a:r>
              <a:t>(3 Tier A + 6 Tier B fusions)</a:t>
            </a:r>
            <a:br/>
            <a:r>
              <a:t>rescued BE: 0/30 → 6/30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1554480"/>
            <a:ext cx="3474720" cy="41148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173736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D95F02"/>
                </a:solidFill>
                <a:latin typeface="Calibri"/>
              </a:defRPr>
            </a:pPr>
            <a:r>
              <a:t>TOPSIS 6D</a:t>
            </a:r>
            <a:br/>
            <a:r>
              <a:t>+ Pareto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60" y="2743200"/>
            <a:ext cx="2560320" cy="36576"/>
          </a:xfrm>
          <a:prstGeom prst="rect">
            <a:avLst/>
          </a:pr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0" y="292608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  <a:latin typeface="Calibri"/>
              </a:defRPr>
            </a:pPr>
            <a:r>
              <a:t>6-dimension ranking</a:t>
            </a:r>
            <a:br/>
            <a:r>
              <a:t>+ weight-independent</a:t>
            </a:r>
            <a:br/>
            <a:r>
              <a:t>Pareto dominance analysis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21040" y="1554480"/>
            <a:ext cx="3474720" cy="41148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0" y="173736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C107"/>
                </a:solidFill>
                <a:latin typeface="Calibri"/>
              </a:defRPr>
            </a:pPr>
            <a:r>
              <a:t>Statistical</a:t>
            </a:r>
            <a:br/>
            <a:r>
              <a:t>Rigor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240" y="2743200"/>
            <a:ext cx="2560320" cy="36576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292608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  <a:latin typeface="Calibri"/>
              </a:defRPr>
            </a:pPr>
            <a:r>
              <a:t>SEs, 95% CIs, Wilson intervals</a:t>
            </a:r>
            <a:br/>
            <a:r>
              <a:t>Dirichlet sensitivity</a:t>
            </a:r>
            <a:br/>
            <a:r>
              <a:t>All params evidence-tagged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943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8899AA"/>
                </a:solidFill>
                <a:latin typeface="Calibri"/>
              </a:defRPr>
            </a:pPr>
            <a:r>
              <a:t>Also: HGVS parser, ClinVar batch ingestion, CFD/MIT off-target scoring, VIKOR/WPM comparison methods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8/26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Multi-Nuclease Feasibility Engine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Systematic evaluation of 5 nucleases × 9 base editor profiles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11247120" cy="457200"/>
          </a:xfrm>
          <a:prstGeom prst="round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Nuclease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14173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14173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Stagger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14173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HDR mult.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141732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Reference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874520"/>
            <a:ext cx="11247120" cy="41148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9202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9E77"/>
                </a:solidFill>
                <a:latin typeface="Calibri"/>
              </a:defRPr>
            </a:pPr>
            <a:r>
              <a:t>SpCas9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1920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NGG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920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Blunt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1920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1.0x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192024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Reference standard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2331720"/>
            <a:ext cx="11247120" cy="411480"/>
          </a:xfrm>
          <a:prstGeom prst="roundRect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23774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9E77"/>
                </a:solidFill>
                <a:latin typeface="Calibri"/>
              </a:defRPr>
            </a:pPr>
            <a:r>
              <a:t>enFnCas9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23774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NRG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23774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~3 bp*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23774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1.5x*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0" y="237744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Our lab (Acharya et al., 2024)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2788920"/>
            <a:ext cx="11247120" cy="41148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8346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9E77"/>
                </a:solidFill>
                <a:latin typeface="Calibri"/>
              </a:defRPr>
            </a:pPr>
            <a:r>
              <a:t>SpCas9-NG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94560" y="28346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91840" y="28346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Blunt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28346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1.0x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0" y="283464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Nishimasu et al., 2018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3246120"/>
            <a:ext cx="11247120" cy="411480"/>
          </a:xfrm>
          <a:prstGeom prst="roundRect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32918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9E77"/>
                </a:solidFill>
                <a:latin typeface="Calibri"/>
              </a:defRPr>
            </a:pPr>
            <a:r>
              <a:t>SpRY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4560" y="32918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NNN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91840" y="32918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Blunt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120" y="32918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0.8x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0" y="329184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Walton et al., 2020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3703320"/>
            <a:ext cx="11247120" cy="41148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37490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9E77"/>
                </a:solidFill>
                <a:latin typeface="Calibri"/>
              </a:defRPr>
            </a:pPr>
            <a:r>
              <a:t>Cas12a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94560" y="37490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TTTV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37490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5 bp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89120" y="37490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1.4x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374904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Zetsche et al., 2015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9AA"/>
                </a:solidFill>
                <a:latin typeface="Calibri"/>
              </a:defRPr>
            </a:pPr>
            <a:r>
              <a:t>* enFnCas9 stagger is [ASSUMED] — not directly measured. HDR multiplier is [ASSUMED]. See parameter provenance.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4572000"/>
            <a:ext cx="11247120" cy="201168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46634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9E77"/>
                </a:solidFill>
                <a:latin typeface="Calibri"/>
              </a:defRPr>
            </a:pPr>
            <a:r>
              <a:t>Base Editor Profiles (9 profiles: 3 Tier A + 6 Tier B)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507492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 b="1">
                <a:solidFill>
                  <a:srgbClr val="1B9E77"/>
                </a:solidFill>
                <a:latin typeface="Calibri"/>
              </a:rPr>
              <a:t>Tier A (core editors):</a:t>
            </a:r>
          </a:p>
          <a:p>
            <a:pPr>
              <a:lnSpc>
                <a:spcPct val="120000"/>
              </a:lnSpc>
            </a:pPr>
            <a:r>
              <a:rPr sz="1200" b="0">
                <a:solidFill>
                  <a:srgbClr val="FFFFFF"/>
                </a:solidFill>
                <a:latin typeface="Calibri"/>
              </a:rPr>
              <a:t>ABE7.10: window 4-7</a:t>
            </a:r>
          </a:p>
          <a:p>
            <a:pPr>
              <a:lnSpc>
                <a:spcPct val="120000"/>
              </a:lnSpc>
            </a:pPr>
            <a:r>
              <a:rPr sz="1200" b="0">
                <a:solidFill>
                  <a:srgbClr val="1B9E77"/>
                </a:solidFill>
                <a:latin typeface="Calibri"/>
              </a:rPr>
              <a:t>ABE8e: window 3-9 extended</a:t>
            </a:r>
          </a:p>
          <a:p>
            <a:pPr>
              <a:lnSpc>
                <a:spcPct val="120000"/>
              </a:lnSpc>
            </a:pPr>
            <a:r>
              <a:rPr sz="1200" b="0">
                <a:solidFill>
                  <a:srgbClr val="FFFFFF"/>
                </a:solidFill>
                <a:latin typeface="Calibri"/>
              </a:rPr>
              <a:t>BE4max (CBE): window 4-8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120" y="507492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 b="1">
                <a:solidFill>
                  <a:srgbClr val="D95F02"/>
                </a:solidFill>
                <a:latin typeface="Calibri"/>
              </a:rPr>
              <a:t>Tier B (nuclease fusions — ABE):</a:t>
            </a:r>
          </a:p>
          <a:p>
            <a:pPr>
              <a:lnSpc>
                <a:spcPct val="120000"/>
              </a:lnSpc>
            </a:pPr>
            <a:r>
              <a:rPr sz="1200" b="0">
                <a:solidFill>
                  <a:srgbClr val="D95F02"/>
                </a:solidFill>
                <a:latin typeface="Calibri"/>
              </a:rPr>
              <a:t>ABE8e + enFnCas9: NRG PAM</a:t>
            </a:r>
          </a:p>
          <a:p>
            <a:pPr>
              <a:lnSpc>
                <a:spcPct val="120000"/>
              </a:lnSpc>
            </a:pPr>
            <a:r>
              <a:rPr sz="1200" b="0">
                <a:solidFill>
                  <a:srgbClr val="FFFFFF"/>
                </a:solidFill>
                <a:latin typeface="Calibri"/>
              </a:rPr>
              <a:t>ABE8e + SpCas9-NG: NG PAM</a:t>
            </a:r>
          </a:p>
          <a:p>
            <a:pPr>
              <a:lnSpc>
                <a:spcPct val="120000"/>
              </a:lnSpc>
            </a:pPr>
            <a:r>
              <a:rPr sz="1200" b="0">
                <a:solidFill>
                  <a:srgbClr val="FFFFFF"/>
                </a:solidFill>
                <a:latin typeface="Calibri"/>
              </a:rPr>
              <a:t>ABE8e + SpRY: near-PAMless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46720" y="507492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 b="1">
                <a:solidFill>
                  <a:srgbClr val="D95F02"/>
                </a:solidFill>
                <a:latin typeface="Calibri"/>
              </a:rPr>
              <a:t>Tier B (nuclease fusions — CBE):</a:t>
            </a:r>
          </a:p>
          <a:p>
            <a:pPr>
              <a:lnSpc>
                <a:spcPct val="120000"/>
              </a:lnSpc>
            </a:pPr>
            <a:r>
              <a:rPr sz="1200" b="0">
                <a:solidFill>
                  <a:srgbClr val="D95F02"/>
                </a:solidFill>
                <a:latin typeface="Calibri"/>
              </a:rPr>
              <a:t>BE4max + enFnCas9: NRG PAM</a:t>
            </a:r>
          </a:p>
          <a:p>
            <a:pPr>
              <a:lnSpc>
                <a:spcPct val="120000"/>
              </a:lnSpc>
            </a:pPr>
            <a:r>
              <a:rPr sz="1200" b="0">
                <a:solidFill>
                  <a:srgbClr val="FFFFFF"/>
                </a:solidFill>
                <a:latin typeface="Calibri"/>
              </a:rPr>
              <a:t>BE4max + SpCas9-NG: NG PAM</a:t>
            </a:r>
          </a:p>
          <a:p>
            <a:pPr>
              <a:lnSpc>
                <a:spcPct val="120000"/>
              </a:lnSpc>
            </a:pPr>
            <a:r>
              <a:rPr sz="1200" b="0">
                <a:solidFill>
                  <a:srgbClr val="FFFFFF"/>
                </a:solidFill>
                <a:latin typeface="Calibri"/>
              </a:rPr>
              <a:t>BE4max + SpRY: near-PAMless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9/26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enFnCas9: Our Lab's Engineered Nuclease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Acharya et al., Nature Communications 15:5471 (2024)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1">
                <a:solidFill>
                  <a:srgbClr val="FFFFFF"/>
                </a:solidFill>
                <a:latin typeface="Calibri"/>
              </a:rPr>
              <a:t>NRG PAM: ~2x more targetable sites than NGG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Single-nucleobase specificity (lower off-target than SpCas9)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Improved HDR knock-in rates demonstrated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Three engineered variants: en1, en15, en31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RPE65 correction in LCA2 patient iPSCs demonstrated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371600"/>
            <a:ext cx="5029200" cy="201168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46304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Calibri"/>
              </a:defRPr>
            </a:pPr>
            <a:r>
              <a:t>[MEASURED] from paper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920240"/>
            <a:ext cx="4663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00" b="0">
                <a:solidFill>
                  <a:srgbClr val="FFFFFF"/>
                </a:solidFill>
                <a:latin typeface="Calibri"/>
              </a:rPr>
              <a:t>NRG/NGR PAM recognition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FFFFFF"/>
                </a:solidFill>
                <a:latin typeface="Calibri"/>
              </a:rPr>
              <a:t>Single-nucleobase specificity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FFFFFF"/>
                </a:solidFill>
                <a:latin typeface="Calibri"/>
              </a:rPr>
              <a:t>Improved HDR knock-in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3657600"/>
            <a:ext cx="5029200" cy="22860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3749039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95F02"/>
                </a:solidFill>
                <a:latin typeface="Calibri"/>
              </a:defRPr>
            </a:pPr>
            <a:r>
              <a:t>[ASSUMED] — need experimental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4206240"/>
            <a:ext cx="4663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00" b="0">
                <a:solidFill>
                  <a:srgbClr val="D95F02"/>
                </a:solidFill>
                <a:latin typeface="Calibri"/>
              </a:rPr>
              <a:t>Stagger: ~3 bp 5' overhang (from FnCas9 structure)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D95F02"/>
                </a:solidFill>
                <a:latin typeface="Calibri"/>
              </a:rPr>
              <a:t>HDR multiplier: 1.5x (qualitative from paper)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D95F02"/>
                </a:solidFill>
                <a:latin typeface="Calibri"/>
              </a:rPr>
              <a:t>ABE8e-enFnCas9 window: 3-9 (extrapolated)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30000"/>
              </a:lnSpc>
            </a:pPr>
            <a:r>
              <a:rPr sz="1300" b="1">
                <a:solidFill>
                  <a:srgbClr val="FFC107"/>
                </a:solidFill>
                <a:latin typeface="Calibri"/>
              </a:rPr>
              <a:t>Data request sent to 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10/26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How Multi-Nuclease Rescues Base Editing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ABE8e + enFnCas9 = broader PAM + wider window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5120640" cy="45720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74C3C"/>
                </a:solidFill>
                <a:latin typeface="Calibri"/>
              </a:defRPr>
            </a:pPr>
            <a:r>
              <a:t>v2 (SpCas9 + ABE7.10 only)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>PAM: NGG only (~8% of positions)</a:t>
            </a:r>
          </a:p>
          <a:p>
            <a:pPr>
              <a:lnSpc>
                <a:spcPct val="14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>Window: positions 4-7 (4 nt)</a:t>
            </a:r>
          </a:p>
          <a:p>
            <a:pPr>
              <a:lnSpc>
                <a:spcPct val="140000"/>
              </a:lnSpc>
            </a:pPr>
            <a:r>
              <a:rPr sz="1500" b="1">
                <a:solidFill>
                  <a:srgbClr val="E74C3C"/>
                </a:solidFill>
                <a:latin typeface="Calibri"/>
              </a:rPr>
              <a:t>Result: 0/30 BE top-ranked</a:t>
            </a:r>
          </a:p>
          <a:p>
            <a:pPr>
              <a:lnSpc>
                <a:spcPct val="14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40000"/>
              </a:lnSpc>
            </a:pPr>
            <a:r>
              <a:rPr sz="1500" b="0">
                <a:solidFill>
                  <a:srgbClr val="CCCCCC"/>
                </a:solidFill>
                <a:latin typeface="Calibri"/>
              </a:rPr>
              <a:t>Even at 7 ABE-compatible loci,</a:t>
            </a:r>
          </a:p>
          <a:p>
            <a:pPr>
              <a:lnSpc>
                <a:spcPct val="140000"/>
              </a:lnSpc>
            </a:pPr>
            <a:r>
              <a:rPr sz="1500" b="0">
                <a:solidFill>
                  <a:srgbClr val="CCCCCC"/>
                </a:solidFill>
                <a:latin typeface="Calibri"/>
              </a:rPr>
              <a:t>no guide placed target in window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303520" cy="45720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4630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CC71"/>
                </a:solidFill>
                <a:latin typeface="Calibri"/>
              </a:defRPr>
            </a:pPr>
            <a:r>
              <a:t>v3 (5 nucleases + ABE8e)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4937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>PAM: NGG + NRG + NG + NNN + TTTV</a:t>
            </a:r>
          </a:p>
          <a:p>
            <a:pPr>
              <a:lnSpc>
                <a:spcPct val="14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>Window: positions 3-9 (7 nt, ABE8e)</a:t>
            </a:r>
          </a:p>
          <a:p>
            <a:pPr>
              <a:lnSpc>
                <a:spcPct val="140000"/>
              </a:lnSpc>
            </a:pPr>
            <a:r>
              <a:rPr sz="1500" b="1">
                <a:solidFill>
                  <a:srgbClr val="2ECC71"/>
                </a:solidFill>
                <a:latin typeface="Calibri"/>
              </a:rPr>
              <a:t>Result: 6/30 BE top-ranked</a:t>
            </a:r>
          </a:p>
          <a:p>
            <a:pPr>
              <a:lnSpc>
                <a:spcPct val="14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40000"/>
              </a:lnSpc>
            </a:pPr>
            <a:r>
              <a:rPr sz="1500" b="0">
                <a:solidFill>
                  <a:srgbClr val="1B9E77"/>
                </a:solidFill>
                <a:latin typeface="Calibri"/>
              </a:rPr>
              <a:t>ABE8e window (3-9) is ~3x broader</a:t>
            </a:r>
          </a:p>
          <a:p>
            <a:pPr>
              <a:lnSpc>
                <a:spcPct val="140000"/>
              </a:lnSpc>
            </a:pPr>
            <a:r>
              <a:rPr sz="1500" b="0">
                <a:solidFill>
                  <a:srgbClr val="1B9E77"/>
                </a:solidFill>
                <a:latin typeface="Calibri"/>
              </a:rPr>
              <a:t>enFnCas9 (NRG) ~2x more PAM sites</a:t>
            </a:r>
          </a:p>
          <a:p>
            <a:pPr>
              <a:lnSpc>
                <a:spcPct val="140000"/>
              </a:lnSpc>
            </a:pPr>
            <a:r>
              <a:rPr sz="1500" b="1">
                <a:solidFill>
                  <a:srgbClr val="1B9E77"/>
                </a:solidFill>
                <a:latin typeface="Calibri"/>
              </a:rPr>
              <a:t>Combined: rescues BE at 6 loci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11/26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E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457200"/>
          </a:xfrm>
          <a:prstGeom prst="roundRect">
            <a:avLst/>
          </a:pr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4572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v3 KEY FINDING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Base Editing Rescued: 0/30 to 6/30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10789920" cy="1371600"/>
          </a:xfrm>
          <a:prstGeom prst="roundRect">
            <a:avLst/>
          </a:prstGeom>
          <a:solidFill>
            <a:srgbClr val="0A2A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3736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ECC71"/>
                </a:solidFill>
                <a:latin typeface="Calibri"/>
              </a:defRPr>
            </a:pPr>
            <a:r>
              <a:t>v3 strategy distribution: BE 20% | PE 77% | HDR 3%</a:t>
            </a:r>
            <a:br/>
            <a:r>
              <a:t>(v2 was: BE 0% | PE 97% | HDR 3%)</a:t>
            </a:r>
          </a:p>
        </p:txBody>
      </p:sp>
      <p:pic>
        <p:nvPicPr>
          <p:cNvPr id="8" name="Picture 7" descr="Fig_StrategyDistribution_v2_v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017520"/>
            <a:ext cx="5943600" cy="32004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132320" y="3200400"/>
            <a:ext cx="2103120" cy="9144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0" y="33375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2ECC71"/>
                </a:solidFill>
                <a:latin typeface="Calibri"/>
              </a:defRPr>
            </a:pPr>
            <a:r>
              <a:t>6/30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38404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BE v3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18320" y="3200400"/>
            <a:ext cx="2103120" cy="9144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0" y="33375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E74C3C"/>
                </a:solidFill>
                <a:latin typeface="Calibri"/>
              </a:defRPr>
            </a:pPr>
            <a:r>
              <a:t>0/30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0" y="38404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BE v2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4572000"/>
            <a:ext cx="4389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Primary drivers:</a:t>
            </a:r>
            <a:br/>
            <a:r>
              <a:t>  ABE8e broader window (3-9)</a:t>
            </a:r>
            <a:br/>
            <a:r>
              <a:t>  enFnCas9 NRG PAM</a:t>
            </a:r>
            <a:br/>
            <a:r>
              <a:t>Bug fixed: bystander triple-count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12/26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6-Dimensional TOPSIS Scoring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Technique for Order Preference by Similarity to Ideal Solution (Hwang &amp; Yoon, 1981)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3566160" cy="192024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9E77"/>
                </a:solidFill>
                <a:latin typeface="Calibri"/>
              </a:defRPr>
            </a:pPr>
            <a:r>
              <a:t>Safety (w=0.28)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DSBs, p53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9AA"/>
                </a:solidFill>
                <a:latin typeface="Calibri"/>
              </a:defRPr>
            </a:pPr>
            <a:r>
              <a:t>Type: Benefit dimension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371600"/>
            <a:ext cx="3566160" cy="192024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9E77"/>
                </a:solidFill>
                <a:latin typeface="Calibri"/>
              </a:defRPr>
            </a:pPr>
            <a:r>
              <a:t>Feasibility (w=0.23)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19202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PAM + window verified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468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9AA"/>
                </a:solidFill>
                <a:latin typeface="Calibri"/>
              </a:defRPr>
            </a:pPr>
            <a:r>
              <a:t>Type: Benefit dimension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371600"/>
            <a:ext cx="3566160" cy="192024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  <a:latin typeface="Calibri"/>
              </a:defRPr>
            </a:pPr>
            <a:r>
              <a:t>Complexity (w=0.19)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19202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Rounds, donors, screening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468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9AA"/>
                </a:solidFill>
                <a:latin typeface="Calibri"/>
              </a:defRPr>
            </a:pPr>
            <a:r>
              <a:t>Type: Cost dimension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657600"/>
            <a:ext cx="3566160" cy="192024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749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  <a:latin typeface="Calibri"/>
              </a:defRPr>
            </a:pPr>
            <a:r>
              <a:t>Risk (w=0.14)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2062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Rearrangement only*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754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9AA"/>
                </a:solidFill>
                <a:latin typeface="Calibri"/>
              </a:defRPr>
            </a:pPr>
            <a:r>
              <a:t>Type: Cost dimension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0" y="3657600"/>
            <a:ext cx="3566160" cy="192024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0560" y="3749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9E77"/>
                </a:solidFill>
                <a:latin typeface="Calibri"/>
              </a:defRPr>
            </a:pPr>
            <a:r>
              <a:t>Confidence (w=0.09)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42062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Evidence tier (A/B/C)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4754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9AA"/>
                </a:solidFill>
                <a:latin typeface="Calibri"/>
              </a:defRPr>
            </a:pPr>
            <a:r>
              <a:t>Type: Benefit dimension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8160" y="3657600"/>
            <a:ext cx="3566160" cy="192024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1040" y="3749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9E77"/>
                </a:solidFill>
                <a:latin typeface="Calibri"/>
              </a:defRPr>
            </a:pPr>
            <a:r>
              <a:t>Consequence (w=0.07)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42062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Bystander edits, splice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4754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9AA"/>
                </a:solidFill>
                <a:latin typeface="Calibri"/>
              </a:defRPr>
            </a:pPr>
            <a:r>
              <a:t>Type: Benefit dimension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126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9AA"/>
                </a:solidFill>
                <a:latin typeface="Calibri"/>
              </a:defRPr>
            </a:pPr>
            <a:r>
              <a:t>* Risk now captures ONLY structural rearrangement. Bystander edits moved to Consequence dimension to prevent double-counting.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13/26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E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457200"/>
          </a:xfrm>
          <a:prstGeom prst="roundRect">
            <a:avLst/>
          </a:pr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4572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CRITICAL BUG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Bystander Triple-Counting Eliminated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Root cause of the degenerate 'always PE' pattern in v2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54480"/>
            <a:ext cx="5120640" cy="41148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74C3C"/>
                </a:solidFill>
                <a:latin typeface="Calibri"/>
              </a:defRPr>
            </a:pPr>
            <a:r>
              <a:t>v2 Bug: 3 Penalty Channels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94560"/>
            <a:ext cx="47548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1. Risk dimension: severity x 0.3 x w=0.15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CCCCCC"/>
                </a:solidFill>
                <a:latin typeface="Calibri"/>
              </a:rPr>
              <a:t>   Penalty for 1 bystander: 0.009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2. Consequence penalty: severity x 0.08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CCCCCC"/>
                </a:solidFill>
                <a:latin typeface="Calibri"/>
              </a:rPr>
              <a:t>   Penalty for 1 bystander: 0.016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3. Lost clean design bonus: -0.03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CCCCCC"/>
                </a:solidFill>
                <a:latin typeface="Calibri"/>
              </a:rPr>
              <a:t>   (PE gets +0.03, BE loses it)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30000"/>
              </a:lnSpc>
            </a:pPr>
            <a:r>
              <a:rPr sz="1400" b="1">
                <a:solidFill>
                  <a:srgbClr val="E74C3C"/>
                </a:solidFill>
                <a:latin typeface="Calibri"/>
              </a:rPr>
              <a:t>TOTAL penalty for 1 bystander: 0.055</a:t>
            </a:r>
          </a:p>
          <a:p>
            <a:pPr>
              <a:lnSpc>
                <a:spcPct val="130000"/>
              </a:lnSpc>
            </a:pPr>
            <a:r>
              <a:rPr sz="1400" b="1">
                <a:solidFill>
                  <a:srgbClr val="E74C3C"/>
                </a:solidFill>
                <a:latin typeface="Calibri"/>
              </a:rPr>
              <a:t>BE feasibility advantage: only 0.033</a:t>
            </a:r>
          </a:p>
          <a:p>
            <a:pPr>
              <a:lnSpc>
                <a:spcPct val="130000"/>
              </a:lnSpc>
            </a:pPr>
            <a:r>
              <a:rPr sz="1400" b="1">
                <a:solidFill>
                  <a:srgbClr val="E74C3C"/>
                </a:solidFill>
                <a:latin typeface="Calibri"/>
              </a:rPr>
              <a:t>=&gt; PE always wins with any bystander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554480"/>
            <a:ext cx="5303520" cy="41148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6459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CC71"/>
                </a:solidFill>
                <a:latin typeface="Calibri"/>
              </a:defRPr>
            </a:pPr>
            <a:r>
              <a:t>v3 Fix: Single Consequence Dimension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94560"/>
            <a:ext cx="4937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Bystander removed from Risk dimension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Consequence is now a proper 6th TOPSIS dim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No additive post-hoc penalty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Clean bonus is a tie-breaker only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30000"/>
              </a:lnSpc>
            </a:pPr>
            <a:r>
              <a:rPr sz="1400" b="1">
                <a:solidFill>
                  <a:srgbClr val="2ECC71"/>
                </a:solidFill>
                <a:latin typeface="Calibri"/>
              </a:rPr>
              <a:t>Result: BE wins with 0-3 bystanders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2ECC71"/>
                </a:solidFill>
                <a:latin typeface="Calibri"/>
              </a:rPr>
              <a:t>PE wins only with 4+ bystanders</a:t>
            </a:r>
          </a:p>
          <a:p>
            <a:pPr>
              <a:lnSpc>
                <a:spcPct val="130000"/>
              </a:lnSpc>
            </a:pPr>
            <a:r>
              <a:rPr sz="1400" b="1">
                <a:solidFill>
                  <a:srgbClr val="2ECC71"/>
                </a:solidFill>
                <a:latin typeface="Calibri"/>
              </a:rPr>
              <a:t>Ranking reflects true biology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30000"/>
              </a:lnSpc>
            </a:pPr>
            <a:r>
              <a:rPr sz="1400" b="1">
                <a:solidFill>
                  <a:srgbClr val="1B9E77"/>
                </a:solidFill>
                <a:latin typeface="Calibri"/>
              </a:rPr>
              <a:t>All 3 MCDM methods agree: 100%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1B9E77"/>
                </a:solidFill>
                <a:latin typeface="Calibri"/>
              </a:rPr>
              <a:t>concordance (TOPSIS, VIKOR, WPM)</a:t>
            </a:r>
          </a:p>
        </p:txBody>
      </p:sp>
      <p:pic>
        <p:nvPicPr>
          <p:cNvPr id="13" name="Picture 12" descr="Fig_BystanterF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114800"/>
            <a:ext cx="5669280" cy="2468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14/26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Pareto Front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Weight-independent dominance check across all 6 dimensions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Strategy A dominates B if A is at least as good on ALL dimensions and strictly better on at least one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Pareto non-dominated strategies form the 'Pareto front' — defensible under SOME weighting scheme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This analysis requires NO weight assumptions — it is purely structural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1">
                <a:solidFill>
                  <a:srgbClr val="1B9E77"/>
                </a:solidFill>
                <a:latin typeface="Calibri"/>
              </a:rPr>
              <a:t>Complement to TOPSIS: shows which strategies COULD be optimal under any weights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114800"/>
            <a:ext cx="10789920" cy="22860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9E77"/>
                </a:solidFill>
                <a:latin typeface="Calibri"/>
              </a:defRPr>
            </a:pPr>
            <a:r>
              <a:t>Typical Result: BE vs PE vs HDR (1 bystander)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5488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 b="1">
                <a:solidFill>
                  <a:srgbClr val="2ECC71"/>
                </a:solidFill>
                <a:latin typeface="Calibri"/>
              </a:rPr>
              <a:t>BE: Pareto non-dominated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CCCCCC"/>
                </a:solidFill>
                <a:latin typeface="Calibri"/>
              </a:rPr>
              <a:t>  (better feasibility, slightly worse consequence)</a:t>
            </a:r>
          </a:p>
          <a:p>
            <a:pPr>
              <a:lnSpc>
                <a:spcPct val="130000"/>
              </a:lnSpc>
            </a:pPr>
            <a:r>
              <a:rPr sz="1400" b="1">
                <a:solidFill>
                  <a:srgbClr val="2ECC71"/>
                </a:solidFill>
                <a:latin typeface="Calibri"/>
              </a:rPr>
              <a:t>PE: Pareto non-dominated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CCCCCC"/>
                </a:solidFill>
                <a:latin typeface="Calibri"/>
              </a:rPr>
              <a:t>  (better consequence, lower feasibility)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475488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 b="1">
                <a:solidFill>
                  <a:srgbClr val="E74C3C"/>
                </a:solidFill>
                <a:latin typeface="Calibri"/>
              </a:rPr>
              <a:t>HDR: Pareto DOMINATED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CCCCCC"/>
                </a:solidFill>
                <a:latin typeface="Calibri"/>
              </a:rPr>
              <a:t>  (worse on safety AND feasibility AND confidence)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CCCCCC"/>
                </a:solidFill>
                <a:latin typeface="Calibri"/>
              </a:rPr>
              <a:t>  =&gt; HDR is never optimal regardless of weights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15/26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Monte Carlo Sensitivity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10,000 Dirichlet-sampled weight permutations (concentration=20)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500" b="0">
                <a:solidFill>
                  <a:srgbClr val="FFFFFF"/>
                </a:solidFill>
                <a:latin typeface="Calibri"/>
              </a:rPr>
              <a:t>Instead of reporting a single 'best' strategy, we report: How stable is the ranking?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500" b="0">
                <a:solidFill>
                  <a:srgbClr val="FFFFFF"/>
                </a:solidFill>
                <a:latin typeface="Calibri"/>
              </a:rPr>
              <a:t>Rank stability = fraction of 10,000 weight permutations where strategy is #1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500" b="0">
                <a:solidFill>
                  <a:srgbClr val="FFFFFF"/>
                </a:solidFill>
                <a:latin typeface="Calibri"/>
              </a:rPr>
              <a:t>Dirichlet distribution with concentration=20, min_alpha=2.0 (prevents pathological weights)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474720"/>
            <a:ext cx="10789920" cy="27432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566160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9E77"/>
                </a:solidFill>
                <a:latin typeface="Calibri"/>
              </a:defRPr>
            </a:pPr>
            <a:r>
              <a:t>Example Output (typical case):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10424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 b="0">
                <a:solidFill>
                  <a:srgbClr val="2ECC71"/>
                </a:solidFill>
                <a:latin typeface="Calibri"/>
              </a:rPr>
              <a:t>#1 Single-step Base Editing     TOPSIS=0.995  Stability=94.2%  Pareto: non-dominated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#2 Single-step Prime Editing    TOPSIS=0.869  Stability=5.8%   Pareto: non-dominated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8899AA"/>
                </a:solidFill>
                <a:latin typeface="Calibri"/>
              </a:rPr>
              <a:t>#3 Single-step HDR              TOPSIS=0.005  Stability=0.0%   Pareto: dominated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CCCCCC"/>
                </a:solidFill>
                <a:latin typeface="Calibri"/>
              </a:rPr>
              <a:t>Interpretation: BE is top-ranked in 94.2% of weight permutations.</a:t>
            </a:r>
          </a:p>
          <a:p>
            <a:pPr>
              <a:lnSpc>
                <a:spcPct val="130000"/>
              </a:lnSpc>
            </a:pPr>
            <a:r>
              <a:rPr sz="1400" b="1">
                <a:solidFill>
                  <a:srgbClr val="1B9E77"/>
                </a:solidFill>
                <a:latin typeface="Calibri"/>
              </a:rPr>
              <a:t>The recommendation is ROBUST — it does not depend on the specific weight values.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16/26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Cross-Method Validation: TOPSIS + VIKOR + WPM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Three independent MCDM methods agree on rankings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3566160" cy="22860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B9E77"/>
                </a:solidFill>
                <a:latin typeface="Calibri"/>
              </a:defRPr>
            </a:pPr>
            <a:r>
              <a:t>TOPSIS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011680"/>
            <a:ext cx="265176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Calibri"/>
              </a:defRPr>
            </a:pPr>
            <a:r>
              <a:t>Euclidean distance to</a:t>
            </a:r>
            <a:br/>
            <a:r>
              <a:t>ideal/anti-ideal solutions</a:t>
            </a:r>
            <a:br/>
            <a:r>
              <a:t>(Hwang &amp; Yoon, 1981)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371600"/>
            <a:ext cx="3566160" cy="22860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14630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D95F02"/>
                </a:solidFill>
                <a:latin typeface="Calibri"/>
              </a:defRPr>
            </a:pPr>
            <a:r>
              <a:t>VIKOR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0" y="2011680"/>
            <a:ext cx="2651760" cy="36576"/>
          </a:xfrm>
          <a:prstGeom prst="rect">
            <a:avLst/>
          </a:pr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19456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Calibri"/>
              </a:defRPr>
            </a:pPr>
            <a:r>
              <a:t>Compromise solution</a:t>
            </a:r>
            <a:br/>
            <a:r>
              <a:t>minimizing group utility</a:t>
            </a:r>
            <a:br/>
            <a:r>
              <a:t>(Opricovic &amp; Tzeng, 2004)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371600"/>
            <a:ext cx="3566160" cy="22860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14630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C107"/>
                </a:solidFill>
                <a:latin typeface="Calibri"/>
              </a:defRPr>
            </a:pPr>
            <a:r>
              <a:t>WPM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95360" y="2011680"/>
            <a:ext cx="2651760" cy="36576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219456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Calibri"/>
              </a:defRPr>
            </a:pPr>
            <a:r>
              <a:t>Weighted geometric mean</a:t>
            </a:r>
            <a:br/>
            <a:r>
              <a:t>Non-compensatory</a:t>
            </a:r>
            <a:br/>
            <a:r>
              <a:t>(Bridgman, 1922)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828800" y="4114800"/>
            <a:ext cx="8503920" cy="2286000"/>
          </a:xfrm>
          <a:prstGeom prst="roundRect">
            <a:avLst/>
          </a:prstGeom>
          <a:solidFill>
            <a:srgbClr val="0A2A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86000" y="4297680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2ECC71"/>
                </a:solidFill>
                <a:latin typeface="Calibri"/>
              </a:defRPr>
            </a:pPr>
            <a:r>
              <a:t>Rank Concordance: 100%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4937760"/>
            <a:ext cx="7589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t>All three methods produce identical rankings across test cases.</a:t>
            </a:r>
            <a:br/>
            <a:r>
              <a:t>The recommendation is method-robust: it does not depend on the</a:t>
            </a:r>
            <a:br/>
            <a:r>
              <a:t>choice of MCDM algorithm.</a:t>
            </a:r>
          </a:p>
        </p:txBody>
      </p:sp>
      <p:pic>
        <p:nvPicPr>
          <p:cNvPr id="20" name="Picture 19" descr="Fig_CrossMethod_Agre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3931920"/>
            <a:ext cx="8503920" cy="2560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17/26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Statistical Rigor in ConversionSim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Every output now includes uncertainty quantification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500" b="0">
                <a:solidFill>
                  <a:srgbClr val="FFFFFF"/>
                </a:solidFill>
                <a:latin typeface="Calibri"/>
              </a:rPr>
              <a:t>HDR rate: binomial SE + 95% CI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500" b="0">
                <a:solidFill>
                  <a:srgbClr val="FFFFFF"/>
                </a:solidFill>
                <a:latin typeface="Calibri"/>
              </a:rPr>
              <a:t>Mean tract length: SE = std/sqrt(n) + 95% CI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500" b="0">
                <a:solidFill>
                  <a:srgbClr val="FFFFFF"/>
                </a:solidFill>
                <a:latin typeface="Calibri"/>
              </a:rPr>
              <a:t>Distance probabilities: Wilson score 95% CI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500" b="0">
                <a:solidFill>
                  <a:srgbClr val="FFFFFF"/>
                </a:solidFill>
                <a:latin typeface="Calibri"/>
              </a:rPr>
              <a:t>Sample std with ddof=1 (not population std)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500" b="0">
                <a:solidFill>
                  <a:srgbClr val="FFFFFF"/>
                </a:solidFill>
                <a:latin typeface="Calibri"/>
              </a:rPr>
              <a:t>Tract clipping bias removed (lower bound)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500" b="0">
                <a:solidFill>
                  <a:srgbClr val="FFFFFF"/>
                </a:solidFill>
                <a:latin typeface="Calibri"/>
              </a:rPr>
              <a:t>SeedSequence spawning (not seed+i)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500" b="0">
                <a:solidFill>
                  <a:srgbClr val="FFFFFF"/>
                </a:solidFill>
                <a:latin typeface="Calibri"/>
              </a:rPr>
              <a:t>Numpy vectorized Dirichlet (not stdlib)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500" b="0">
                <a:solidFill>
                  <a:srgbClr val="FFFFFF"/>
                </a:solidFill>
                <a:latin typeface="Calibri"/>
              </a:rPr>
              <a:t>Geometric distribution explicitly justified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0" y="1371600"/>
            <a:ext cx="5760720" cy="50292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0" y="146304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9E77"/>
                </a:solidFill>
                <a:latin typeface="Calibri"/>
              </a:defRPr>
            </a:pPr>
            <a:r>
              <a:t>Example: enFnCas9 + cssDNA + iPSC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2011680"/>
            <a:ext cx="5394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Calibri"/>
              </a:rPr>
              <a:t>HDR rate: 3.5% (95% CI: [3.2%, 3.9%])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Calibri"/>
              </a:rPr>
              <a:t>Mean tract: 706 bp (SE=36.9)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1B9E77"/>
                </a:solidFill>
                <a:latin typeface="Calibri"/>
              </a:rPr>
              <a:t>  95% CI: [634, 778] bp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Calibri"/>
              </a:rPr>
              <a:t>Median: 454 bp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Calibri"/>
              </a:rPr>
              <a:t>P(tract &gt;= 500 bp):</a:t>
            </a:r>
          </a:p>
          <a:p>
            <a:pPr>
              <a:lnSpc>
                <a:spcPct val="125000"/>
              </a:lnSpc>
            </a:pPr>
            <a:r>
              <a:rPr sz="1300" b="1">
                <a:solidFill>
                  <a:srgbClr val="1B9E77"/>
                </a:solidFill>
                <a:latin typeface="Calibri"/>
              </a:rPr>
              <a:t>  47.2% [42.0%, 52.4%]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Calibri"/>
              </a:rPr>
              <a:t>P(tract &gt;= 1000 bp):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1B9E77"/>
                </a:solidFill>
                <a:latin typeface="Calibri"/>
              </a:rPr>
              <a:t>  25.9% [21.6%, 30.7%]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8899AA"/>
                </a:solidFill>
                <a:latin typeface="Calibri"/>
              </a:rPr>
              <a:t>n = 10,000 simulations, seed = 42</a:t>
            </a:r>
          </a:p>
        </p:txBody>
      </p:sp>
      <p:pic>
        <p:nvPicPr>
          <p:cNvPr id="9" name="Picture 8" descr="Fig_ConversionSim_C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474720"/>
            <a:ext cx="1124712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18/26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ConversionSim: Honest Scope &amp; Validation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SDSA pathway model for long-donor HDR only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5120640" cy="256032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Calibri"/>
              </a:defRPr>
            </a:pPr>
            <a:r>
              <a:t>Valid for (SDSA pathway):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2024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Aft>
                <a:spcPts val="400"/>
              </a:spcAft>
            </a:pPr>
            <a:r>
              <a:rPr sz="1300" b="1">
                <a:solidFill>
                  <a:srgbClr val="2ECC71"/>
                </a:solidFill>
                <a:latin typeface="Calibri"/>
              </a:rPr>
              <a:t>  ▸  </a:t>
            </a:r>
            <a:r>
              <a:rPr sz="1300" b="0">
                <a:solidFill>
                  <a:srgbClr val="FFFFFF"/>
                </a:solidFill>
                <a:latin typeface="Calibri"/>
              </a:rPr>
              <a:t>cssDNA donors (Iyer et al., 2022: 2.07x predicted vs 1.9x observed)</a:t>
            </a:r>
          </a:p>
          <a:p>
            <a:pPr>
              <a:lnSpc>
                <a:spcPct val="140000"/>
              </a:lnSpc>
              <a:spcAft>
                <a:spcPts val="400"/>
              </a:spcAft>
            </a:pPr>
            <a:r>
              <a:rPr sz="1300" b="1">
                <a:solidFill>
                  <a:srgbClr val="2ECC71"/>
                </a:solidFill>
                <a:latin typeface="Calibri"/>
              </a:rPr>
              <a:t>  ▸  </a:t>
            </a:r>
            <a:r>
              <a:rPr sz="1300" b="0">
                <a:solidFill>
                  <a:srgbClr val="FFFFFF"/>
                </a:solidFill>
                <a:latin typeface="Calibri"/>
              </a:rPr>
              <a:t>Staggered cuts (Chauhan et al., 2023: 1.82x pred vs 1.9x obs)</a:t>
            </a:r>
          </a:p>
          <a:p>
            <a:pPr>
              <a:lnSpc>
                <a:spcPct val="140000"/>
              </a:lnSpc>
              <a:spcAft>
                <a:spcPts val="400"/>
              </a:spcAft>
            </a:pPr>
            <a:r>
              <a:rPr sz="1300" b="1">
                <a:solidFill>
                  <a:srgbClr val="2ECC71"/>
                </a:solidFill>
                <a:latin typeface="Calibri"/>
              </a:rPr>
              <a:t>  ▸  </a:t>
            </a:r>
            <a:r>
              <a:rPr sz="1300" b="0">
                <a:solidFill>
                  <a:srgbClr val="FFFFFF"/>
                </a:solidFill>
                <a:latin typeface="Calibri"/>
              </a:rPr>
              <a:t>dsDNA/lssDNA donors with HA &gt;= 100 bp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303520" cy="256032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4630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  <a:latin typeface="Calibri"/>
              </a:defRPr>
            </a:pPr>
            <a:r>
              <a:t>NOT valid for (SSTR pathway):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937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Aft>
                <a:spcPts val="400"/>
              </a:spcAft>
            </a:pPr>
            <a:r>
              <a:rPr sz="1300" b="1">
                <a:solidFill>
                  <a:srgbClr val="E74C3C"/>
                </a:solidFill>
                <a:latin typeface="Calibri"/>
              </a:rPr>
              <a:t>  ▸  </a:t>
            </a:r>
            <a:r>
              <a:rPr sz="1300" b="0">
                <a:solidFill>
                  <a:srgbClr val="FFFFFF"/>
                </a:solidFill>
                <a:latin typeface="Calibri"/>
              </a:rPr>
              <a:t>ssODN editing (uses SSTR, not SDSA)</a:t>
            </a:r>
          </a:p>
          <a:p>
            <a:pPr>
              <a:lnSpc>
                <a:spcPct val="140000"/>
              </a:lnSpc>
              <a:spcAft>
                <a:spcPts val="400"/>
              </a:spcAft>
            </a:pPr>
            <a:r>
              <a:rPr sz="1300" b="1">
                <a:solidFill>
                  <a:srgbClr val="E74C3C"/>
                </a:solidFill>
                <a:latin typeface="Calibri"/>
              </a:rPr>
              <a:t>  ▸  </a:t>
            </a:r>
            <a:r>
              <a:rPr sz="1300" b="0">
                <a:solidFill>
                  <a:srgbClr val="FFFFFF"/>
                </a:solidFill>
                <a:latin typeface="Calibri"/>
              </a:rPr>
              <a:t>R² = -0.56 vs Paquet 2016 (expected mismatch)</a:t>
            </a:r>
          </a:p>
          <a:p>
            <a:pPr>
              <a:lnSpc>
                <a:spcPct val="140000"/>
              </a:lnSpc>
              <a:spcAft>
                <a:spcPts val="400"/>
              </a:spcAft>
            </a:pPr>
            <a:r>
              <a:rPr sz="1300" b="1">
                <a:solidFill>
                  <a:srgbClr val="E74C3C"/>
                </a:solidFill>
                <a:latin typeface="Calibri"/>
              </a:rPr>
              <a:t>  ▸  </a:t>
            </a:r>
            <a:r>
              <a:rPr sz="1300" b="0">
                <a:solidFill>
                  <a:srgbClr val="FFFFFF"/>
                </a:solidFill>
                <a:latin typeface="Calibri"/>
              </a:rPr>
              <a:t>Prime editing (RT-based, not strand invasion)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389120"/>
            <a:ext cx="10789920" cy="201168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480560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9E77"/>
                </a:solidFill>
                <a:latin typeface="Calibri"/>
              </a:defRPr>
            </a:pPr>
            <a:r>
              <a:t>Central parameter: SDSA displacement probability p = 0.002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937760"/>
            <a:ext cx="10424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00" b="1">
                <a:solidFill>
                  <a:srgbClr val="D95F02"/>
                </a:solidFill>
                <a:latin typeface="Calibri"/>
              </a:rPr>
              <a:t>Evidence: [ASSUMED] from functional data (not direct measurement)</a:t>
            </a:r>
          </a:p>
          <a:p>
            <a:pPr>
              <a:lnSpc>
                <a:spcPct val="130000"/>
              </a:lnSpc>
            </a:pPr>
            <a:r>
              <a:rPr sz="1200" b="0">
                <a:solidFill>
                  <a:srgbClr val="CCCCCC"/>
                </a:solidFill>
                <a:latin typeface="Calibri"/>
              </a:rPr>
              <a:t>  Stark lab SDSA assay: &gt;= 350 bp synthesis confirmed in human cells (G3, 2017)</a:t>
            </a:r>
          </a:p>
          <a:p>
            <a:pPr>
              <a:lnSpc>
                <a:spcPct val="130000"/>
              </a:lnSpc>
            </a:pPr>
            <a:r>
              <a:rPr sz="1200" b="0">
                <a:solidFill>
                  <a:srgbClr val="CCCCCC"/>
                </a:solidFill>
                <a:latin typeface="Calibri"/>
              </a:rPr>
              <a:t>  Successful HDR with 300-1000 bp homology arms implies routine incorporation at hundreds of bp</a:t>
            </a:r>
          </a:p>
          <a:p>
            <a:pPr>
              <a:lnSpc>
                <a:spcPct val="130000"/>
              </a:lnSpc>
            </a:pPr>
            <a:r>
              <a:rPr sz="1200" b="0">
                <a:solidFill>
                  <a:srgbClr val="8899AA"/>
                </a:solidFill>
                <a:latin typeface="Calibri"/>
              </a:rPr>
              <a:t>  NOT calibrated to: Elliott 1998 (endogenous tracts &lt;58 bp) or Kan 2017 (SSTR tracts ~20 bp)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19/26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Citation Integrity: Web-Search Verified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Every reference and calibration value checked against primary sources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789920" cy="45720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95F02"/>
                </a:solidFill>
                <a:latin typeface="Calibri"/>
              </a:defRPr>
            </a:pPr>
            <a:r>
              <a:t>Errors Found and Corrected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9E77"/>
                </a:solidFill>
                <a:latin typeface="Calibri"/>
              </a:defRPr>
            </a:pPr>
            <a:r>
              <a:t>Paper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20116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9E77"/>
                </a:solidFill>
                <a:latin typeface="Calibri"/>
              </a:defRPr>
            </a:pPr>
            <a:r>
              <a:t>Error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01168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9E77"/>
                </a:solidFill>
                <a:latin typeface="Calibri"/>
              </a:defRPr>
            </a:pPr>
            <a:r>
              <a:t>Correction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0" y="20116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9E77"/>
                </a:solidFill>
                <a:latin typeface="Calibri"/>
              </a:defRPr>
            </a:pPr>
            <a:r>
              <a:t>Status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37744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Arbab et al., 2020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37744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95F02"/>
                </a:solidFill>
                <a:latin typeface="Calibri"/>
              </a:defRPr>
            </a:pPr>
            <a:r>
              <a:t>Listed as Nature 584:268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37744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Actually Cell 182:463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0" y="237744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ECC71"/>
                </a:solidFill>
                <a:latin typeface="Calibri"/>
              </a:defRPr>
            </a:pPr>
            <a:r>
              <a:t>FIXED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88036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enFnCas9 (Ref 14)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288036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95F02"/>
                </a:solidFill>
                <a:latin typeface="Calibri"/>
              </a:defRPr>
            </a:pPr>
            <a:r>
              <a:t>Wrong first author &amp; title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88036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Acharya S et al., correct title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0" y="288036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ECC71"/>
                </a:solidFill>
                <a:latin typeface="Calibri"/>
              </a:defRPr>
            </a:pPr>
            <a:r>
              <a:t>FIXED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832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Kan et al., 2017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38328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95F02"/>
                </a:solidFill>
                <a:latin typeface="Calibri"/>
              </a:defRPr>
            </a:pPr>
            <a:r>
              <a:t>Listed as Mol Cell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38328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Actually Genome Research 27:1099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338328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ECC71"/>
                </a:solidFill>
                <a:latin typeface="Calibri"/>
              </a:defRPr>
            </a:pPr>
            <a:r>
              <a:t>FIXED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388620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Elliott et al., 1998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388620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95F02"/>
                </a:solidFill>
                <a:latin typeface="Calibri"/>
              </a:defRPr>
            </a:pPr>
            <a:r>
              <a:t>Claimed tracts 200-2000 bp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88620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Actually 80% of tracts &lt;= 58 bp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0" y="388620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REFRAMED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43891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HA 300 nt optimal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438912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95F02"/>
                </a:solidFill>
                <a:latin typeface="Calibri"/>
              </a:defRPr>
            </a:pPr>
            <a:r>
              <a:t>Attributed to Iyer 2022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43891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Paper doesn't specify 300 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80" y="438912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REFRAMED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489204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Kim et al., 2019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08960" y="489204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95F02"/>
                </a:solidFill>
                <a:latin typeface="Calibri"/>
              </a:defRPr>
            </a:pPr>
            <a:r>
              <a:t>13,000 BE targets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489204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Correct: Song et al., Nat Biotech 2020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84080" y="489204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DOCUMENTED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5303520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99AA"/>
                </a:solidFill>
                <a:latin typeface="Calibri"/>
              </a:defRPr>
            </a:pPr>
            <a:r>
              <a:t>20 references verified via web search (PubMed/DOI). 17 verified, 3 corrected. All PMIDs confirmed.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20/26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Parameter Provenance System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Every constant tagged [MEASURED], [DERIVED], or [ASSUMED]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789920" cy="59436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Calibri"/>
              </a:defRPr>
            </a:pPr>
            <a:r>
              <a:t>[MEASURED]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46304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Value directly from a published measurement with citation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103120"/>
            <a:ext cx="10789920" cy="59436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945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9E77"/>
                </a:solidFill>
                <a:latin typeface="Calibri"/>
              </a:defRPr>
            </a:pPr>
            <a:r>
              <a:t>[DERIVED]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19456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Computed from published data via a stated mathematical procedure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834640"/>
            <a:ext cx="10789920" cy="59436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926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95F02"/>
                </a:solidFill>
                <a:latin typeface="Calibri"/>
              </a:defRPr>
            </a:pPr>
            <a:r>
              <a:t>[ASSUMED]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92608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Modeling assumption with rationale; explored via sensitivity analysis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40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Key Parameters with Evidence Tags: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2976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SpCas9 cut position: -3 bp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42976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CC71"/>
                </a:solidFill>
                <a:latin typeface="Calibri"/>
              </a:defRPr>
            </a:pPr>
            <a:r>
              <a:t>[MEASURED]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42976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99AA"/>
                </a:solidFill>
                <a:latin typeface="Calibri"/>
              </a:defRPr>
            </a:pPr>
            <a:r>
              <a:t>Jinek et al., Science 2012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59943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ABE7.10 window: 4-7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459943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CC71"/>
                </a:solidFill>
                <a:latin typeface="Calibri"/>
              </a:defRPr>
            </a:pPr>
            <a:r>
              <a:t>[MEASURED]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459943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99AA"/>
                </a:solidFill>
                <a:latin typeface="Calibri"/>
              </a:defRPr>
            </a:pPr>
            <a:r>
              <a:t>Gaudelli et al., Nature 2017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90118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cssDNA HDR: ~1.9x vs lssDNA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490118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CC71"/>
                </a:solidFill>
                <a:latin typeface="Calibri"/>
              </a:defRPr>
            </a:pPr>
            <a:r>
              <a:t>[MEASURED]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490118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99AA"/>
                </a:solidFill>
                <a:latin typeface="Calibri"/>
              </a:defRPr>
            </a:pPr>
            <a:r>
              <a:t>Iyer et al., CRISPR J 2022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202936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vCas9 stagger: &gt;= 6 bp, 1.9x HDR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5202936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CC71"/>
                </a:solidFill>
                <a:latin typeface="Calibri"/>
              </a:defRPr>
            </a:pPr>
            <a:r>
              <a:t>[MEASURED]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520293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99AA"/>
                </a:solidFill>
                <a:latin typeface="Calibri"/>
              </a:defRPr>
            </a:pPr>
            <a:r>
              <a:t>Chauhan et al., PNAS 2023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50468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iPSC viability post-DSB: 55%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0" y="55046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CC71"/>
                </a:solidFill>
                <a:latin typeface="Calibri"/>
              </a:defRPr>
            </a:pPr>
            <a:r>
              <a:t>[MEASURED]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550468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99AA"/>
                </a:solidFill>
                <a:latin typeface="Calibri"/>
              </a:defRPr>
            </a:pPr>
            <a:r>
              <a:t>Ihry et al., Nat Med 2018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58064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SDSA displacement prob: p=0.002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0" y="58064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D95F02"/>
                </a:solidFill>
                <a:latin typeface="Calibri"/>
              </a:defRPr>
            </a:pPr>
            <a:r>
              <a:t>[ASSUMED]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6560" y="58064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99AA"/>
                </a:solidFill>
                <a:latin typeface="Calibri"/>
              </a:defRPr>
            </a:pPr>
            <a:r>
              <a:t>Functional evidence (see scope slide)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1081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enFnCas9 stagger: 3 bp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0" y="610819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D95F02"/>
                </a:solidFill>
                <a:latin typeface="Calibri"/>
              </a:defRPr>
            </a:pPr>
            <a:r>
              <a:t>[ASSUMED]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66560" y="610819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99AA"/>
                </a:solidFill>
                <a:latin typeface="Calibri"/>
              </a:defRPr>
            </a:pPr>
            <a:r>
              <a:t>FnCas9 structure inference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640994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Scoring weights: 0.28/0.23/...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640994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D95F02"/>
                </a:solidFill>
                <a:latin typeface="Calibri"/>
              </a:defRPr>
            </a:pPr>
            <a:r>
              <a:t>[ASSUMED]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66560" y="640994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99AA"/>
                </a:solidFill>
                <a:latin typeface="Calibri"/>
              </a:defRPr>
            </a:pPr>
            <a:r>
              <a:t>iPSC-context rationale + sensitivity</a:t>
            </a:r>
          </a:p>
        </p:txBody>
      </p:sp>
      <p:pic>
        <p:nvPicPr>
          <p:cNvPr id="39" name="Picture 38" descr="Fig_ParameterProven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371600"/>
            <a:ext cx="3931920" cy="393192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21/26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Benchmark Results: v2 vs v3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30 ClinVar cases, verified GRCh38 coordinates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5120640" cy="45720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9E77"/>
                </a:solidFill>
                <a:latin typeface="Calibri"/>
              </a:defRPr>
            </a:pPr>
            <a:r>
              <a:t>v2 Results (SpCas9 + ABE7.10)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Top-1 accuracy: 86.7% (26/30)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Top-3 accuracy: 96.7% (29/30)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Rejection accuracy: 90.0% (27/30)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Strategy: PE=29, HDR=1, BE=0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8899AA"/>
                </a:solidFill>
                <a:latin typeface="Calibri"/>
              </a:rPr>
              <a:t>Scoring: 5D weighted sum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8899AA"/>
                </a:solidFill>
                <a:latin typeface="Calibri"/>
              </a:rPr>
              <a:t>Tests: 123 passing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303520" cy="45720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4630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95F02"/>
                </a:solidFill>
                <a:latin typeface="Calibri"/>
              </a:defRPr>
            </a:pPr>
            <a:r>
              <a:t>v3 Results (multi-nuclease + TOPSIS 6D)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4937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Top-1 accuracy: 86.7% (26/30)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Top-3 accuracy: 96.7% (29/30)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Rejection accuracy: 86.7% (26/30)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30000"/>
              </a:lnSpc>
            </a:pPr>
            <a:r>
              <a:rPr sz="1400" b="1">
                <a:solidFill>
                  <a:srgbClr val="2ECC71"/>
                </a:solidFill>
                <a:latin typeface="Calibri"/>
              </a:rPr>
              <a:t>Strategy: PE=23, BE=6, HDR=1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D95F02"/>
                </a:solidFill>
                <a:latin typeface="Calibri"/>
              </a:rPr>
              <a:t>Scoring: 6D TOPSIS + Pareto + VIKOR/WPM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D95F02"/>
                </a:solidFill>
                <a:latin typeface="Calibri"/>
              </a:rPr>
              <a:t>Tests: 198 passing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D95F02"/>
                </a:solidFill>
                <a:latin typeface="Calibri"/>
              </a:rPr>
              <a:t>SEs/CIs on all outputs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D95F02"/>
                </a:solidFill>
                <a:latin typeface="Calibri"/>
              </a:rPr>
              <a:t>All 20 references web-verified</a:t>
            </a:r>
          </a:p>
        </p:txBody>
      </p:sp>
      <p:pic>
        <p:nvPicPr>
          <p:cNvPr id="11" name="Picture 10" descr="Fig_Literature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0"/>
            <a:ext cx="11247120" cy="21031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22/26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v3 Codebase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Version 3.0.0 | MIT License | github.com/visvikbharti/CRISPRArchitect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3200400" cy="13716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B9E77"/>
                </a:solidFill>
                <a:latin typeface="Calibri"/>
              </a:defRPr>
            </a:pPr>
            <a:r>
              <a:t>198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Tests Passing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371600"/>
            <a:ext cx="3200400" cy="13716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5087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D95F02"/>
                </a:solidFill>
                <a:latin typeface="Calibri"/>
              </a:defRPr>
            </a:pPr>
            <a:r>
              <a:t>3.0.0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0116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Version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21040" y="1371600"/>
            <a:ext cx="3200400" cy="13716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5087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C107"/>
                </a:solidFill>
                <a:latin typeface="Calibri"/>
              </a:defRPr>
            </a:pPr>
            <a:r>
              <a:t>~36,500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0116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Lines of Code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200400"/>
            <a:ext cx="3200400" cy="13716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375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2ECC71"/>
                </a:solidFill>
                <a:latin typeface="Calibri"/>
              </a:defRPr>
            </a:pPr>
            <a:r>
              <a:t>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8404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Verified Refs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80560" y="3200400"/>
            <a:ext cx="3200400" cy="13716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33375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3498DB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38404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TOPSIS Dims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0" y="3200400"/>
            <a:ext cx="3200400" cy="13716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33375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2ECC71"/>
                </a:solidFill>
                <a:latin typeface="Calibri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38404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Test Failures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21208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Python 3.9+ | NumPy, SciPy, Matplotlib | Streamlit web app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Docker + docker-compose ready | GitHub Actions CI (Python 3.9-3.12)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HGVS parser + ClinVar batch ingestion | CLI + web interface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23/26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Limitations (Honest)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What we cannot do and what we need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D95F02"/>
                </a:solidFill>
                <a:latin typeface="Calibri"/>
              </a:rPr>
              <a:t>  ▸  </a:t>
            </a:r>
            <a:r>
              <a:rPr sz="1400" b="1">
                <a:solidFill>
                  <a:srgbClr val="E74C3C"/>
                </a:solidFill>
                <a:latin typeface="Calibri"/>
              </a:rPr>
              <a:t>No experimental validation yet — benchmark uses self-curated truth labels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D95F02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ConversionSim models SDSA only; ssODN (SSTR) predictions are invalid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D95F02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SDSA displacement probability p=0.002 is [ASSUMED], not directly measured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D95F02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enFnCas9 stagger (3 bp) and HDR multiplier (1.5x) are not experimentally verified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D95F02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Off-target scoring is local only (no genome-wide search)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D95F02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No chromatin accessibility or replication timing data integration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D95F02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Large deletion strategies (multi-exon) are poorly handled (0/3 accuracy)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D95F02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Benchmark has degenerate pattern: PE still dominates in 23/30 cases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D95F02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Need independent expert labeling of benchmark cases (Cohen's kappa)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D95F02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Need comparison against empirical editing data (Song 2020, Chen 2021)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24/26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What's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Roadmap to PLOS Computational Biology submission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5120640" cy="45720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C107"/>
                </a:solidFill>
                <a:latin typeface="Calibri"/>
              </a:defRPr>
            </a:pPr>
            <a:r>
              <a:t>From the Lab (data request sent)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FFC107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3-5 iPSC editing cases (any gene, any strategy)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FFC107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enFnCas9 cut-site stagger measurement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FFC107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enFnCas9 vs SpCas9 HDR comparison (2-3 loci)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FFC107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enFnCas9-ABE8e editing window (if tested)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303520" cy="45720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4630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9E77"/>
                </a:solidFill>
                <a:latin typeface="Calibri"/>
              </a:defRPr>
            </a:pPr>
            <a:r>
              <a:t>Computational (in progress)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4937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Expand benchmark to 30+ published cases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Validate BE against Song et al. 2020 data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Validate PE against Chen et al. 2021 data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Rebuild manuscript for PLOS Comp Bio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Generate publication-quality figures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Independent expert labeling of cases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25/26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1C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1B9E77"/>
                </a:solidFill>
                <a:latin typeface="Calibri"/>
              </a:defRPr>
            </a:pPr>
            <a:r>
              <a:t>Questions &amp; Discussion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291840"/>
            <a:ext cx="2743200" cy="27432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8EEF4"/>
                </a:solidFill>
                <a:latin typeface="Calibri"/>
              </a:defRPr>
            </a:pPr>
            <a:r>
              <a:t>Vishal Bharti  |  Debojyoti Chakraborty Lab  |  CSIR-IGIB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062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github.com/visvikbharti/CRISPRArchitect  |  MIT License  |  v3.0.0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0292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CCCCC"/>
                </a:solidFill>
                <a:latin typeface="Calibri"/>
              </a:defRPr>
            </a:pPr>
            <a:r>
              <a:t>Key takeaway: CRISPRArchitect v3 provides transparent,</a:t>
            </a:r>
            <a:br/>
            <a:r>
              <a:t>method-robust, uncertainty-quantified strategy recommendations</a:t>
            </a:r>
            <a:br/>
            <a:r>
              <a:t>with every parameter traceable to published evidence.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26/26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