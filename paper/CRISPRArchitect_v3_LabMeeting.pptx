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CRISPRArchitect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B9E77"/>
                </a:solidFill>
                <a:latin typeface="Calibri"/>
              </a:defRPr>
            </a:pPr>
            <a:r>
              <a:t>Multi-Nuclease Decision Support for</a:t>
            </a:r>
            <a:br/>
            <a:r>
              <a:t>Genome Editing Strategy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95F02"/>
                </a:solidFill>
                <a:latin typeface="Calibri"/>
              </a:defRPr>
            </a:pPr>
            <a:r>
              <a:t>TOPSIS Multi-Criteria Ranking  |  Pareto Analysis  |  Sensitivity Quantification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27432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EF4"/>
                </a:solidFill>
                <a:latin typeface="Calibri"/>
              </a:defRPr>
            </a:pPr>
            <a:r>
              <a:t>Vishal Bharti  |  Debojyoti Chakraborty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Calibri"/>
              </a:defRPr>
            </a:pPr>
            <a:r>
              <a:t>CSIR-Institute of Genomics and Integrative Biology, New Delhi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Calibri"/>
              </a:defRPr>
            </a:pPr>
            <a:r>
              <a:t>Lab Meeting  |  April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5303520"/>
            <a:ext cx="1280160" cy="4572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5349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9E77"/>
                </a:solidFill>
                <a:latin typeface="Calibri"/>
              </a:defRPr>
            </a:pPr>
            <a:r>
              <a:t>5 Nucleases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5303520"/>
            <a:ext cx="1280160" cy="4572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5349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5F02"/>
                </a:solidFill>
                <a:latin typeface="Calibri"/>
              </a:defRPr>
            </a:pPr>
            <a:r>
              <a:t>TOPSIS 6D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81360" y="5303520"/>
            <a:ext cx="1280160" cy="4572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5349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Calibri"/>
              </a:defRPr>
            </a:pPr>
            <a:r>
              <a:t>224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1/28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Why do we need a unified editing framework?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Multiple modalities (BE, PE, HDR) with distinct constraints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No tool compares all three modalities side by side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PAM + editing window is a hidden bottleneck (our key finding)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iPSCs are p53-active: DSBs kill most cells (Ihry et al., 2018)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Multi-nuclease options expand the design space enormously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7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700" b="0">
                <a:solidFill>
                  <a:srgbClr val="FFFFFF"/>
                </a:solidFill>
                <a:latin typeface="Calibri"/>
              </a:rPr>
              <a:t>Clinical applications demand transparent, auditable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11887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Base Editing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A&gt;G or C&gt;T only, narrow window (4-8 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26080"/>
            <a:ext cx="5029200" cy="11887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0175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5F02"/>
                </a:solidFill>
                <a:latin typeface="Calibri"/>
              </a:defRPr>
            </a:pPr>
            <a:r>
              <a:t>Prime Editing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429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Any edit, no DSB, complex pegRNA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389120"/>
            <a:ext cx="5029200" cy="11887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480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t>HDR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892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DSB required, p53 toxicity in iPSCs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2/28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is CRISPRArchitect?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A decision-support tool, not a predictive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1">
                <a:solidFill>
                  <a:srgbClr val="FFFFFF"/>
                </a:solidFill>
                <a:latin typeface="Calibri"/>
              </a:rPr>
              <a:t>Input: pathogenic variant(s) in HGVS notation or genomic coordinates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Automatically fetches transcript structure from Ensembl (GRCh38)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Maps variant to CDS, annotates coding consequence (ACMG standards)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Scans for PAM sites across 5 nucleases, evaluates 9 base editor profiles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Assesses feasibility of BE, PE, and HDR with locus-specific constraints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1">
                <a:solidFill>
                  <a:srgbClr val="FFFFFF"/>
                </a:solidFill>
                <a:latin typeface="Calibri"/>
              </a:rPr>
              <a:t>Output: ranked strategies with TOPSIS scores, Pareto analysis,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1">
                <a:solidFill>
                  <a:srgbClr val="FFFFFF"/>
                </a:solidFill>
                <a:latin typeface="Calibri"/>
              </a:rPr>
              <a:t>         sensitivity quantification, and explicit rejection reasons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Transparent: every score, weight, and parameter has documented 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3/28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Pipeline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10-stage end-to-end workflow from variant input to ranked recommendations</a:t>
            </a:r>
          </a:p>
        </p:txBody>
      </p:sp>
      <p:pic>
        <p:nvPicPr>
          <p:cNvPr id="5" name="Picture 4" descr="Fig_Pipelin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58952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4/28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Biophysical Simulation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~24,000 lines of code | Monte Carlo biophysical simulations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66160" cy="21031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9E77"/>
                </a:solidFill>
                <a:latin typeface="Calibri"/>
              </a:defRPr>
            </a:pPr>
            <a:r>
              <a:t>ConversionSim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Gene conversion tract simulation (SDSA pathway)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Method: Monte Carlo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71600"/>
            <a:ext cx="3566160" cy="21031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9E77"/>
                </a:solidFill>
                <a:latin typeface="Calibri"/>
              </a:defRPr>
            </a:pPr>
            <a:r>
              <a:t>MOSAIC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Multi-locus strategy 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Method: Decision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371600"/>
            <a:ext cx="3566160" cy="21031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9E77"/>
                </a:solidFill>
                <a:latin typeface="Calibri"/>
              </a:defRPr>
            </a:pPr>
            <a:r>
              <a:t>ChromBridge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3D chromatin distance predictor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Method: Polymer physics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3566160" cy="21031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9E77"/>
                </a:solidFill>
                <a:latin typeface="Calibri"/>
              </a:defRPr>
            </a:pPr>
            <a:r>
              <a:t>TopoPred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cssDNA secondary structure analyzer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Method: Thermodynamics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931920"/>
            <a:ext cx="3566160" cy="21031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9E77"/>
                </a:solidFill>
                <a:latin typeface="Calibri"/>
              </a:defRPr>
            </a:pPr>
            <a:r>
              <a:t>LoopSim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Cohesin loop extrusion simulator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Method: Stochastic 1D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931920"/>
            <a:ext cx="3566160" cy="21031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9E77"/>
                </a:solidFill>
                <a:latin typeface="Calibri"/>
              </a:defRPr>
            </a:pPr>
            <a:r>
              <a:t>WebApp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Interactive Streamlit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Method: 7 analysis pages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5/28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Initial Analysis: SpCas9-Only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30 ClinVar cases | Transcript-aware pipeline | GRCh38 coordinates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Ensembl REST API integration (GRCh38 coordinates)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Reference allele validation against genome sequence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Coding consequence annotation (ACMG standards)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PAM-verified feasibility: BE, PE, HDR engines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Scored with weighted-sum across 5 dimensions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30-case ClinVar benchmark: 86.7% top-1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9E77"/>
                </a:solidFill>
                <a:latin typeface="Calibri"/>
              </a:defRPr>
            </a:pPr>
            <a:r>
              <a:t>SpCas9-Only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Top-1 accuracy: 86.7% (26/30)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Top-3 accuracy: 96.7% (29/30)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8899AA"/>
                </a:solidFill>
                <a:latin typeface="Calibri"/>
              </a:rPr>
              <a:t>Strategy distribution:</a:t>
            </a: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D95F02"/>
                </a:solidFill>
                <a:latin typeface="Calibri"/>
              </a:rPr>
              <a:t>  PE: 29/30 (96.7%)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FFC107"/>
                </a:solidFill>
                <a:latin typeface="Calibri"/>
              </a:rPr>
              <a:t>  HDR: 1/30 (3.3%)</a:t>
            </a: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E74C3C"/>
                </a:solidFill>
                <a:latin typeface="Calibri"/>
              </a:rPr>
              <a:t>  BE: 0/30 (0.0%)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E74C3C"/>
                </a:solidFill>
                <a:latin typeface="Calibri"/>
              </a:rPr>
              <a:t>Problem: PE always wins.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E74C3C"/>
                </a:solidFill>
                <a:latin typeface="Calibri"/>
              </a:rPr>
              <a:t>Even at ABE-compatible loci!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6/28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D95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PAM-Window Is the Real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The most important finding from our SpCas9-only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789920" cy="1828800"/>
          </a:xfrm>
          <a:prstGeom prst="roundRect">
            <a:avLst/>
          </a:prstGeom>
          <a:solidFill>
            <a:srgbClr val="2A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95F02"/>
                </a:solidFill>
                <a:latin typeface="Calibri"/>
              </a:defRPr>
            </a:pPr>
            <a:r>
              <a:t>At ALL 7 ClinVar loci with ABE-compatible transitions,</a:t>
            </a:r>
            <a:br/>
            <a:r>
              <a:t>NO SpCas9 guide placed the target base within ABE positions 4-7.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Calibri"/>
              </a:defRPr>
            </a:pPr>
            <a:r>
              <a:t>Mutation-type classification alone is INSUFFICIENT for strategy selection.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A&gt;G does NOT mean ABE will work at that locus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The PAM must position the target A at protospacer position 4-7 (ABE7.10)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This motivated expanding to multiple nucleases + wider editing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7/28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D95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CORE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Three Key Technical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Multi-nuclease evaluation + principled scoring + statistical rigor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474720" cy="41148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9E77"/>
                </a:solidFill>
                <a:latin typeface="Calibri"/>
              </a:defRPr>
            </a:pPr>
            <a:r>
              <a:t>Multi-Nuclease</a:t>
            </a:r>
            <a:br/>
            <a:r>
              <a:t>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743200"/>
            <a:ext cx="256032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5 nucleases × 9 editor profiles</a:t>
            </a:r>
            <a:br/>
            <a:r>
              <a:t>(3 Tier A + 6 Tier B fusions)</a:t>
            </a:r>
            <a:br/>
            <a:r>
              <a:t>BE rescued at 6/30 loci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474720" cy="41148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95F02"/>
                </a:solidFill>
                <a:latin typeface="Calibri"/>
              </a:defRPr>
            </a:pPr>
            <a:r>
              <a:t>TOPSIS 6D</a:t>
            </a:r>
            <a:br/>
            <a:r>
              <a:t>+ Pareto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743200"/>
            <a:ext cx="2560320" cy="36576"/>
          </a:xfrm>
          <a:prstGeom prst="rect">
            <a:avLst/>
          </a:prstGeom>
          <a:solidFill>
            <a:srgbClr val="D95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6-dimension ranking</a:t>
            </a:r>
            <a:br/>
            <a:r>
              <a:t>+ weight-independent</a:t>
            </a:r>
            <a:br/>
            <a:r>
              <a:t>Pareto dominance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54480"/>
            <a:ext cx="3474720" cy="41148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7373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107"/>
                </a:solidFill>
                <a:latin typeface="Calibri"/>
              </a:defRPr>
            </a:pPr>
            <a:r>
              <a:t>Statistical</a:t>
            </a:r>
            <a:br/>
            <a:r>
              <a:t>Rigor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2743200"/>
            <a:ext cx="256032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SEs, 95% CIs, Wilson intervals</a:t>
            </a:r>
            <a:br/>
            <a:r>
              <a:t>Dirichlet sensitivity</a:t>
            </a:r>
            <a:br/>
            <a:r>
              <a:t>All params evidence-tagged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Calibri"/>
              </a:defRPr>
            </a:pPr>
            <a:r>
              <a:t>Also: HGVS parser, ClinVar batch ingestion, CFD/MIT off-target scoring, VIKOR/WPM comparison methods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8/28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Multi-Nuclease Feasibility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Systematic evaluation of 5 nucleases × 9 base editor profiles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457200"/>
          </a:xfrm>
          <a:prstGeom prst="round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Nuclease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417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417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417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HDR mult.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417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20"/>
            <a:ext cx="11247120" cy="4114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9E77"/>
                </a:solidFill>
                <a:latin typeface="Calibri"/>
              </a:defRPr>
            </a:pPr>
            <a:r>
              <a:t>SpCas9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920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NGG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920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Blunt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20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920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Reference standard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331720"/>
            <a:ext cx="11247120" cy="41148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9E77"/>
                </a:solidFill>
                <a:latin typeface="Calibri"/>
              </a:defRPr>
            </a:pPr>
            <a:r>
              <a:t>enFnCas9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NRG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~3 bp*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1.5x*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377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Our lab (Acharya et al., 2024)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788920"/>
            <a:ext cx="11247120" cy="4114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9E77"/>
                </a:solidFill>
                <a:latin typeface="Calibri"/>
              </a:defRPr>
            </a:pPr>
            <a:r>
              <a:t>SpCas9-NG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Blunt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1.0x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8346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Nishimasu et al., 2018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246120"/>
            <a:ext cx="11247120" cy="41148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291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9E77"/>
                </a:solidFill>
                <a:latin typeface="Calibri"/>
              </a:defRPr>
            </a:pPr>
            <a:r>
              <a:t>SpRY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NNN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Blunt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0.8x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3291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Walton et al., 2020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703320"/>
            <a:ext cx="11247120" cy="4114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749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9E77"/>
                </a:solidFill>
                <a:latin typeface="Calibri"/>
              </a:defRPr>
            </a:pPr>
            <a:r>
              <a:t>Cas12a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749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TTTV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3749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5 bp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749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1.4x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37490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Zetsche et al., 2015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* enFnCas9 stagger is [ASSUMED] — not directly measured. HDR multiplier is [ASSUMED]. ** ABE8e-enFnCas9 and BE4max-enFnCas9 are Tier B (extrapolated from components; no published fusion data).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572000"/>
            <a:ext cx="11247120" cy="20116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Base Editor Profiles (9 profiles: 3 Tier A + 6 Tier B)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0749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1B9E77"/>
                </a:solidFill>
                <a:latin typeface="Calibri"/>
              </a:rPr>
              <a:t>Tier A (core editors):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ABE7.10: window 4-7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1B9E77"/>
                </a:solidFill>
                <a:latin typeface="Calibri"/>
              </a:rPr>
              <a:t>ABE8e: window 3-9 extended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BE4max (CBE): window 4-8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50749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D95F02"/>
                </a:solidFill>
                <a:latin typeface="Calibri"/>
              </a:rPr>
              <a:t>Tier B (nuclease fusions — ABE):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D95F02"/>
                </a:solidFill>
                <a:latin typeface="Calibri"/>
              </a:rPr>
              <a:t>ABE8e + enFnCas9: NRG PAM **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ABE8e + SpCas9-NG: NG PAM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ABE8e + SpRY: near-PAMless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50749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D95F02"/>
                </a:solidFill>
                <a:latin typeface="Calibri"/>
              </a:rPr>
              <a:t>Tier B (nuclease fusions — CBE):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D95F02"/>
                </a:solidFill>
                <a:latin typeface="Calibri"/>
              </a:rPr>
              <a:t>BE4max + enFnCas9: NRG PAM **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BE4max + SpCas9-NG: NG PAM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BE4max + SpRY: near-PAMless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9/28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enFnCas9: Our Lab's Engineered Nuclease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Acharya et al., Nature Communications 15:5471 (2024)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1">
                <a:solidFill>
                  <a:srgbClr val="FFFFFF"/>
                </a:solidFill>
                <a:latin typeface="Calibri"/>
              </a:rPr>
              <a:t>NRG PAM: ~2x more targetable sites than NGG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Single-nucleobase specificity (lower off-target than SpCas9)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Improved HDR knock-in rates demonstrated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Three engineered variants: en1, en15, en31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RPE65 correction in LCA2 patient iPSCs demonstrated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[MEASURED] from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NRG/NGR PAM recognition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Single-nucleobase specificity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Improved HDR knock-in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657600"/>
            <a:ext cx="5029200" cy="2286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7490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5F02"/>
                </a:solidFill>
                <a:latin typeface="Calibri"/>
              </a:defRPr>
            </a:pPr>
            <a:r>
              <a:t>[ASSUMED] — need experimental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2062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D95F02"/>
                </a:solidFill>
                <a:latin typeface="Calibri"/>
              </a:rPr>
              <a:t>Stagger: ~3 bp 5' overhang (from FnCas9 structure)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D95F02"/>
                </a:solidFill>
                <a:latin typeface="Calibri"/>
              </a:rPr>
              <a:t>HDR multiplier: 1.5x (qualitative from paper)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D95F02"/>
                </a:solidFill>
                <a:latin typeface="Calibri"/>
              </a:rPr>
              <a:t>ABE8e-enFnCas9 window: 3-9 (extrapolated)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FFC107"/>
                </a:solidFill>
                <a:latin typeface="Calibri"/>
              </a:rPr>
              <a:t>Data request sent to 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10/28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Multi-Nuclease Rescues Base Editing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ABE8e + enFnCas9 = broader PAM + wider window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120640" cy="4572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SpCas9 + ABE7.10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PAM: NGG only (~8% of positions)</a:t>
            </a:r>
          </a:p>
          <a:p>
            <a:pPr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Window: positions 4-7 (4 nt)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E74C3C"/>
                </a:solidFill>
                <a:latin typeface="Calibri"/>
              </a:rPr>
              <a:t>Result: 0/30 BE top-ranked</a:t>
            </a:r>
          </a:p>
          <a:p>
            <a:pPr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40000"/>
              </a:lnSpc>
            </a:pPr>
            <a:r>
              <a:rPr sz="1500" b="0">
                <a:solidFill>
                  <a:srgbClr val="CCCCCC"/>
                </a:solidFill>
                <a:latin typeface="Calibri"/>
              </a:rPr>
              <a:t>Even at 7 ABE-compatible loci,</a:t>
            </a:r>
          </a:p>
          <a:p>
            <a:pPr>
              <a:lnSpc>
                <a:spcPct val="140000"/>
              </a:lnSpc>
            </a:pPr>
            <a:r>
              <a:rPr sz="1500" b="0">
                <a:solidFill>
                  <a:srgbClr val="CCCCCC"/>
                </a:solidFill>
                <a:latin typeface="Calibri"/>
              </a:rPr>
              <a:t>no guide placed target in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Multi-Nuclease (5 nucleases + ABE8e)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PAM: NGG + NRG + NG + NNN + TTTV</a:t>
            </a:r>
          </a:p>
          <a:p>
            <a:pPr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Window: positions 3-9 (7 nt, ABE8e)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2ECC71"/>
                </a:solidFill>
                <a:latin typeface="Calibri"/>
              </a:rPr>
              <a:t>Result: 6/30 BE top-ranked</a:t>
            </a:r>
          </a:p>
          <a:p>
            <a:pPr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40000"/>
              </a:lnSpc>
            </a:pPr>
            <a:r>
              <a:rPr sz="1500" b="0">
                <a:solidFill>
                  <a:srgbClr val="1B9E77"/>
                </a:solidFill>
                <a:latin typeface="Calibri"/>
              </a:rPr>
              <a:t>ABE8e window (3-9) is ~3x broader</a:t>
            </a:r>
          </a:p>
          <a:p>
            <a:pPr>
              <a:lnSpc>
                <a:spcPct val="140000"/>
              </a:lnSpc>
            </a:pPr>
            <a:r>
              <a:rPr sz="1500" b="0">
                <a:solidFill>
                  <a:srgbClr val="1B9E77"/>
                </a:solidFill>
                <a:latin typeface="Calibri"/>
              </a:rPr>
              <a:t>enFnCas9 (NRG) ~2x more PAM sites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1B9E77"/>
                </a:solidFill>
                <a:latin typeface="Calibri"/>
              </a:rPr>
              <a:t>Combined: rescues BE at 6 loci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11/28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D95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Multi-Nuclease Engine Rescues Base Editing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789920" cy="1371600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Calibri"/>
              </a:defRPr>
            </a:pPr>
            <a:r>
              <a:t>With multi-nuclease: BE 20% | PE 77% | HDR 3%</a:t>
            </a:r>
            <a:br/>
            <a:r>
              <a:t>(SpCas9 only: BE 0% | PE 97% | HDR 3%)</a:t>
            </a:r>
          </a:p>
        </p:txBody>
      </p:sp>
      <p:pic>
        <p:nvPicPr>
          <p:cNvPr id="8" name="Picture 7" descr="Fig_StrategyDistribution_v2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17520"/>
            <a:ext cx="5943600" cy="3200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0" y="3200400"/>
            <a:ext cx="2103120" cy="9144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3337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  <a:latin typeface="Calibri"/>
              </a:defRPr>
            </a:pPr>
            <a:r>
              <a:t>6/30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BE (multi-nuc.)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3200400"/>
            <a:ext cx="2103120" cy="9144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3337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74C3C"/>
                </a:solidFill>
                <a:latin typeface="Calibri"/>
              </a:defRPr>
            </a:pPr>
            <a:r>
              <a:t>0/30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BE (SpCas9)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5720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Primary drivers:</a:t>
            </a:r>
            <a:br/>
            <a:r>
              <a:t>  ABE8e broader window (3-9)</a:t>
            </a:r>
            <a:br/>
            <a:r>
              <a:t>  enFnCas9 NRG PAM (~2x target sites)</a:t>
            </a:r>
            <a:br/>
            <a:r>
              <a:t>  Bystander scoring corrected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12/28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6-Dimensional TOPSIS Scoring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Technique for Order Preference by Similarity to Ideal Solution (Hwang &amp; Yoon, 1981)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192024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Safety (w=0.28)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DSBs, p53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Type: Benefit dimension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192024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Feasibility (w=0.23)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PAM + window 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Type: Benefit dimension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66160" cy="192024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Complexity (w=0.19)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Rounds, donors, screening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Type: Cost dimension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3566160" cy="192024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Risk (w=0.14)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Rearrangement only*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Type: Cost dimension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657600"/>
            <a:ext cx="3566160" cy="192024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Confidence (w=0.09)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Evidence tier (A/B/C)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Type: Benefit dimension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657600"/>
            <a:ext cx="3566160" cy="192024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Consequence (w=0.07)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Bystander edits, splice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Type: Benefit dimension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* Risk now captures ONLY structural rearrangement. Bystander edits moved to Consequence dimension to prevent double-counting.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13/28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E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D95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SCORING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Bystander Scoring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Redundant penalty channels can create degenerate 'always PE'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120640" cy="41148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Problem: Triple-Counted Penalty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1. Risk dimension: severity x 0.3 x w=0.15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CCCCCC"/>
                </a:solidFill>
                <a:latin typeface="Calibri"/>
              </a:rPr>
              <a:t>   Penalty for 1 bystander: 0.009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2. Consequence penalty: severity x 0.08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CCCCCC"/>
                </a:solidFill>
                <a:latin typeface="Calibri"/>
              </a:rPr>
              <a:t>   Penalty for 1 bystander: 0.016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3. Lost clean design bonus: -0.03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CCCCCC"/>
                </a:solidFill>
                <a:latin typeface="Calibri"/>
              </a:rPr>
              <a:t>   (PE gets +0.03, BE loses it)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74C3C"/>
                </a:solidFill>
                <a:latin typeface="Calibri"/>
              </a:rPr>
              <a:t>TOTAL penalty for 1 bystander: 0.055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74C3C"/>
                </a:solidFill>
                <a:latin typeface="Calibri"/>
              </a:rPr>
              <a:t>BE feasibility advantage: only 0.033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74C3C"/>
                </a:solidFill>
                <a:latin typeface="Calibri"/>
              </a:rPr>
              <a:t>=&gt; PE always wins with any bystander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41148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Solution: Single Consequence Dimension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Bystander removed from Risk dimension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Consequence is now a proper 6th TOPSIS dim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No additive post-hoc penalty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Clean bonus is a tie-breaker only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2ECC71"/>
                </a:solidFill>
                <a:latin typeface="Calibri"/>
              </a:rPr>
              <a:t>Result: BE wins with 0-3 bystanders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2ECC71"/>
                </a:solidFill>
                <a:latin typeface="Calibri"/>
              </a:rPr>
              <a:t>PE wins only with 4+ bystanders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2ECC71"/>
                </a:solidFill>
                <a:latin typeface="Calibri"/>
              </a:rPr>
              <a:t>Ranking reflects true biology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1B9E77"/>
                </a:solidFill>
                <a:latin typeface="Calibri"/>
              </a:rPr>
              <a:t>All 3 MCDM methods agree: 100%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1B9E77"/>
                </a:solidFill>
                <a:latin typeface="Calibri"/>
              </a:rPr>
              <a:t>concordance (TOPSIS, VIKOR, WPM)</a:t>
            </a:r>
          </a:p>
        </p:txBody>
      </p:sp>
      <p:pic>
        <p:nvPicPr>
          <p:cNvPr id="13" name="Picture 12" descr="Fig_Bystanter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114800"/>
            <a:ext cx="5669280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14/28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Pareto Front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Weight-independent dominance check across all 6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Strategy A dominates B if A is at least as good on ALL dimensions and strictly better on at least one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Pareto non-dominated strategies form the 'Pareto front' — defensible under SOME weighting scheme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0">
                <a:solidFill>
                  <a:srgbClr val="FFFFFF"/>
                </a:solidFill>
                <a:latin typeface="Calibri"/>
              </a:rPr>
              <a:t>This analysis requires NO weight assumptions — it is purely structural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600" b="1">
                <a:solidFill>
                  <a:srgbClr val="1B9E77"/>
                </a:solidFill>
                <a:latin typeface="Calibri"/>
              </a:rPr>
              <a:t>Complement to TOPSIS: shows which strategies COULD be optimal under any weights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10789920" cy="2286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Typical Result: BE vs PE vs HDR (1 bystander)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2ECC71"/>
                </a:solidFill>
                <a:latin typeface="Calibri"/>
              </a:rPr>
              <a:t>BE: Pareto non-dominated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CCCCCC"/>
                </a:solidFill>
                <a:latin typeface="Calibri"/>
              </a:rPr>
              <a:t>  (better feasibility, slightly worse consequence)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2ECC71"/>
                </a:solidFill>
                <a:latin typeface="Calibri"/>
              </a:rPr>
              <a:t>PE: Pareto non-dominated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CCCCCC"/>
                </a:solidFill>
                <a:latin typeface="Calibri"/>
              </a:rPr>
              <a:t>  (better consequence, lower feasibility)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E74C3C"/>
                </a:solidFill>
                <a:latin typeface="Calibri"/>
              </a:rPr>
              <a:t>HDR: Pareto DOMINATED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CCCCCC"/>
                </a:solidFill>
                <a:latin typeface="Calibri"/>
              </a:rPr>
              <a:t>  (worse on safety AND feasibility AND confidence)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CCCCCC"/>
                </a:solidFill>
                <a:latin typeface="Calibri"/>
              </a:rPr>
              <a:t>  =&gt; HDR is never optimal regardless of weights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15/28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Monte Carlo Sensitivity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10,000 Dirichlet-sampled weight permutations (concentration=20)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500" b="0">
                <a:solidFill>
                  <a:srgbClr val="FFFFFF"/>
                </a:solidFill>
                <a:latin typeface="Calibri"/>
              </a:rPr>
              <a:t>Instead of reporting a single 'best' strategy, we report: How stable is the ranking?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500" b="0">
                <a:solidFill>
                  <a:srgbClr val="FFFFFF"/>
                </a:solidFill>
                <a:latin typeface="Calibri"/>
              </a:rPr>
              <a:t>Rank stability = fraction of 10,000 weight permutations where strategy is #1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500" b="0">
                <a:solidFill>
                  <a:srgbClr val="FFFFFF"/>
                </a:solidFill>
                <a:latin typeface="Calibri"/>
              </a:rPr>
              <a:t>Dirichlet distribution with concentration=20, min_alpha=2.0 (prevents pathological weights)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74720"/>
            <a:ext cx="10789920" cy="27432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Example Output (typical case):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2ECC71"/>
                </a:solidFill>
                <a:latin typeface="Calibri"/>
              </a:rPr>
              <a:t>#1 Single-step Base Editing     TOPSIS=0.995  Stability=94.2%  Pareto: non-dominated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#2 Single-step Prime Editing    TOPSIS=0.869  Stability=5.8%   Pareto: non-dominated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8899AA"/>
                </a:solidFill>
                <a:latin typeface="Calibri"/>
              </a:rPr>
              <a:t>#3 Single-step HDR              TOPSIS=0.005  Stability=0.0%   Pareto: dominated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CCCCCC"/>
                </a:solidFill>
                <a:latin typeface="Calibri"/>
              </a:rPr>
              <a:t>Interpretation: BE is top-ranked in 94.2% of weight permutations.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1B9E77"/>
                </a:solidFill>
                <a:latin typeface="Calibri"/>
              </a:rPr>
              <a:t>The recommendation is ROBUST — it does not depend on the specific weight 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16/28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Cross-Method Validation: TOPSIS + VIKOR + WPM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Three independent MCDM methods agree on rankings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9E77"/>
                </a:solidFill>
                <a:latin typeface="Calibri"/>
              </a:defRPr>
            </a:pPr>
            <a:r>
              <a:t>TOPSIS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265176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Euclidean distance to</a:t>
            </a:r>
            <a:br/>
            <a:r>
              <a:t>ideal/anti-ideal solutions</a:t>
            </a:r>
            <a:br/>
            <a:r>
              <a:t>(Hwang &amp; Yoon, 1981)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95F02"/>
                </a:solidFill>
                <a:latin typeface="Calibri"/>
              </a:defRPr>
            </a:pPr>
            <a:r>
              <a:t>VIKOR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011680"/>
            <a:ext cx="2651760" cy="36576"/>
          </a:xfrm>
          <a:prstGeom prst="rect">
            <a:avLst/>
          </a:prstGeom>
          <a:solidFill>
            <a:srgbClr val="D95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Compromise solution</a:t>
            </a:r>
            <a:br/>
            <a:r>
              <a:t>minimizing group utility</a:t>
            </a:r>
            <a:br/>
            <a:r>
              <a:t>(Opricovic &amp; Tzeng, 2004)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107"/>
                </a:solidFill>
                <a:latin typeface="Calibri"/>
              </a:defRPr>
            </a:pPr>
            <a:r>
              <a:t>WPM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011680"/>
            <a:ext cx="265176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194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Weighted geometric mean</a:t>
            </a:r>
            <a:br/>
            <a:r>
              <a:t>Non-compensatory</a:t>
            </a:r>
            <a:br/>
            <a:r>
              <a:t>(Bridgman, 1922)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114800"/>
            <a:ext cx="8503920" cy="2286000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2976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Rank Concordance: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93776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All three methods produce identical rankings across test cases.</a:t>
            </a:r>
            <a:br/>
            <a:r>
              <a:t>The recommendation is method-robust: it does not depend on the</a:t>
            </a:r>
            <a:br/>
            <a:r>
              <a:t>choice of MCDM algorithm.</a:t>
            </a:r>
          </a:p>
        </p:txBody>
      </p:sp>
      <p:pic>
        <p:nvPicPr>
          <p:cNvPr id="20" name="Picture 19" descr="Fig_CrossMethod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931920"/>
            <a:ext cx="8503920" cy="2560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17/28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Statistical Rigor in ConversionSim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Every output now includes uncertainty quantification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500" b="0">
                <a:solidFill>
                  <a:srgbClr val="FFFFFF"/>
                </a:solidFill>
                <a:latin typeface="Calibri"/>
              </a:rPr>
              <a:t>HDR rate: binomial SE + 95% CI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500" b="0">
                <a:solidFill>
                  <a:srgbClr val="FFFFFF"/>
                </a:solidFill>
                <a:latin typeface="Calibri"/>
              </a:rPr>
              <a:t>Mean tract length: SE = std/sqrt(n) + 95% CI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500" b="0">
                <a:solidFill>
                  <a:srgbClr val="FFFFFF"/>
                </a:solidFill>
                <a:latin typeface="Calibri"/>
              </a:rPr>
              <a:t>Distance probabilities: Wilson score 95% CI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500" b="0">
                <a:solidFill>
                  <a:srgbClr val="FFFFFF"/>
                </a:solidFill>
                <a:latin typeface="Calibri"/>
              </a:rPr>
              <a:t>Sample std with ddof=1 (not population std)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500" b="0">
                <a:solidFill>
                  <a:srgbClr val="FFFFFF"/>
                </a:solidFill>
                <a:latin typeface="Calibri"/>
              </a:rPr>
              <a:t>Tract clipping bias removed (lower bound)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500" b="0">
                <a:solidFill>
                  <a:srgbClr val="FFFFFF"/>
                </a:solidFill>
                <a:latin typeface="Calibri"/>
              </a:rPr>
              <a:t>SeedSequence spawning (not seed+i)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500" b="0">
                <a:solidFill>
                  <a:srgbClr val="FFFFFF"/>
                </a:solidFill>
                <a:latin typeface="Calibri"/>
              </a:rPr>
              <a:t>Numpy vectorized Dirichlet (not stdlib)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500" b="0">
                <a:solidFill>
                  <a:srgbClr val="FFFFFF"/>
                </a:solidFill>
                <a:latin typeface="Calibri"/>
              </a:rPr>
              <a:t>Geometric distribution explicitly justified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760720" cy="50292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463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E77"/>
                </a:solidFill>
                <a:latin typeface="Calibri"/>
              </a:defRPr>
            </a:pPr>
            <a:r>
              <a:t>Example: enFnCas9 + cssDNA + iPSC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116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HDR rate: 3.5% (95% CI: [3.2%, 3.9%])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Mean tract: 706 bp (SE=36.9)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1B9E77"/>
                </a:solidFill>
                <a:latin typeface="Calibri"/>
              </a:rPr>
              <a:t>  95% CI: [634, 778] bp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Median: 454 bp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P(tract &gt;= 500 bp):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1B9E77"/>
                </a:solidFill>
                <a:latin typeface="Calibri"/>
              </a:rPr>
              <a:t>  47.2% [42.0%, 52.4%]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P(tract &gt;= 1000 bp):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1B9E77"/>
                </a:solidFill>
                <a:latin typeface="Calibri"/>
              </a:rPr>
              <a:t>  25.9% [21.6%, 30.7%]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8899AA"/>
                </a:solidFill>
                <a:latin typeface="Calibri"/>
              </a:rPr>
              <a:t>n = 10,000 simulations, seed = 42</a:t>
            </a:r>
          </a:p>
        </p:txBody>
      </p:sp>
      <p:pic>
        <p:nvPicPr>
          <p:cNvPr id="9" name="Picture 8" descr="Fig_ConversionSim_C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1124712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18/28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ConversionSim: Honest Scope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SDSA pathway model for long-donor HDR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120640" cy="25603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Valid for (SDSA pathway):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300" b="1">
                <a:solidFill>
                  <a:srgbClr val="2ECC71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cssDNA donors (Iyer et al., 2022: 2.07x predicted vs 1.9x observed)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300" b="1">
                <a:solidFill>
                  <a:srgbClr val="2ECC71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Staggered cuts (Chauhan et al., 2023: 1.82x pred vs 1.9x obs)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300" b="1">
                <a:solidFill>
                  <a:srgbClr val="2ECC71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dsDNA/lssDNA donors with HA &gt;= 100 bp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25603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NOT valid for (SSTR pathway):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ssODN editing (uses SSTR, not SDSA)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R² = -0.56 vs Paquet 2016 (expected mismatch)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300" b="1">
                <a:solidFill>
                  <a:srgbClr val="E74C3C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Prime editing (RT-based, not strand invasion)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89120"/>
            <a:ext cx="10789920" cy="201168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Central parameter: SDSA displacement probability p = 0.002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D95F02"/>
                </a:solidFill>
                <a:latin typeface="Calibri"/>
              </a:rPr>
              <a:t>Evidence: [ASSUMED] from functional data (not direct measurement)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CCCCCC"/>
                </a:solidFill>
                <a:latin typeface="Calibri"/>
              </a:rPr>
              <a:t>  Stark lab SDSA assay: &gt;= 350 bp synthesis confirmed in human cells (G3, 2017)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CCCCCC"/>
                </a:solidFill>
                <a:latin typeface="Calibri"/>
              </a:rPr>
              <a:t>  Successful HDR with 300-1000 bp homology arms implies routine incorporation at hundreds of bp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8899AA"/>
                </a:solidFill>
                <a:latin typeface="Calibri"/>
              </a:rPr>
              <a:t>  NOT calibrated to: Elliott 1998 (endogenous tracts &lt;58 bp) or Kan 2017 (SSTR tracts ~20 bp)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19/28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Citation Integrity: Web-Search Verified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Every reference and calibration value checked against primary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789920" cy="4572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5F02"/>
                </a:solidFill>
                <a:latin typeface="Calibri"/>
              </a:defRPr>
            </a:pPr>
            <a:r>
              <a:t>Errors Found and Corrected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9E77"/>
                </a:solidFill>
                <a:latin typeface="Calibri"/>
              </a:defRPr>
            </a:pPr>
            <a:r>
              <a:t>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9E77"/>
                </a:solidFill>
                <a:latin typeface="Calibri"/>
              </a:defRPr>
            </a:pPr>
            <a:r>
              <a:t>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9E77"/>
                </a:solidFill>
                <a:latin typeface="Calibri"/>
              </a:defRPr>
            </a:pPr>
            <a:r>
              <a:t>Correction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9E77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Arbab et al.,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5F02"/>
                </a:solidFill>
                <a:latin typeface="Calibri"/>
              </a:defRPr>
            </a:pPr>
            <a:r>
              <a:t>Listed as Nature 584:268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77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Actually Cell 182:463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3774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CC71"/>
                </a:solidFill>
                <a:latin typeface="Calibri"/>
              </a:defRPr>
            </a:pPr>
            <a:r>
              <a:t>FIXED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enFnCas9 (Ref 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880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5F02"/>
                </a:solidFill>
                <a:latin typeface="Calibri"/>
              </a:defRPr>
            </a:pPr>
            <a:r>
              <a:t>Wrong first author &amp; 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80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Acharya S et al., correct 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880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CC71"/>
                </a:solidFill>
                <a:latin typeface="Calibri"/>
              </a:defRPr>
            </a:pPr>
            <a:r>
              <a:t>FIXED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83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Kan et al., 2017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5F02"/>
                </a:solidFill>
                <a:latin typeface="Calibri"/>
              </a:defRPr>
            </a:pPr>
            <a:r>
              <a:t>Listed as Mol Cell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83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Actually Genome Research 27:1099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383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CC71"/>
                </a:solidFill>
                <a:latin typeface="Calibri"/>
              </a:defRPr>
            </a:pPr>
            <a:r>
              <a:t>FIXED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86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Elliott et al., 1998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5F02"/>
                </a:solidFill>
                <a:latin typeface="Calibri"/>
              </a:defRPr>
            </a:pPr>
            <a:r>
              <a:t>Claimed tracts 200-2000 bp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886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Actually 80% of tracts &lt;= 58 bp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886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REFRAMED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389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HA 300 nt optimal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389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5F02"/>
                </a:solidFill>
                <a:latin typeface="Calibri"/>
              </a:defRPr>
            </a:pPr>
            <a:r>
              <a:t>Attributed to Iyer 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389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Paper doesn't specify 300 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4389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REFRAMED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92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Kim et al., 2019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4892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5F02"/>
                </a:solidFill>
                <a:latin typeface="Calibri"/>
              </a:defRPr>
            </a:pPr>
            <a:r>
              <a:t>13,000 BE targets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892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Correct: Song et al., Nat Biotech 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8920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DOCUMENTED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3035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20 references verified via web search (PubMed/DOI). 17 verified, 3 corrected. All PMIDs confirmed.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20/28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Parameter Provenance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Every constant tagged [MEASURED], [DERIVED], or [ASSUMED]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789920" cy="59436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[MEASURED]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630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Value directly from a published measurement with citation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0789920" cy="59436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[DERIVED]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945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Computed from published data via a stated mathematical procedure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10789920" cy="59436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5F02"/>
                </a:solidFill>
                <a:latin typeface="Calibri"/>
              </a:defRPr>
            </a:pPr>
            <a:r>
              <a:t>[ASSUMED]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260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Modeling assumption with rationale; explored via sensitivity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Parameters with Evidence Tags: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SpCas9 cut position: -3 bp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297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[MEASURED]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Jinek et al., Science 2012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994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ABE7.10 window: 4-7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5994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[MEASURED]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599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Gaudelli et al., Nature 2017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011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cssDNA HDR: ~1.9x vs lssDNA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9011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[MEASURED]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901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Iyer et al., CRISPR J 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029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vCas9 stagger: &gt;= 6 bp, 1.9x HDR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2029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[MEASURED]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202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Chauhan et al., PNAS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046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iPSC viability post-DSB: 55%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504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[MEASURED]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504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Ihry et al., Nat Med 2018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SDSA displacement prob: p=0.002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806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5F02"/>
                </a:solidFill>
                <a:latin typeface="Calibri"/>
              </a:defRPr>
            </a:pPr>
            <a:r>
              <a:t>[ASSUMED]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Functional evidence (see scope slide)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1081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enFnCas9 stagger: 3 bp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61081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5F02"/>
                </a:solidFill>
                <a:latin typeface="Calibri"/>
              </a:defRPr>
            </a:pPr>
            <a:r>
              <a:t>[ASSUMED]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6108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FnCas9 structure inference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4099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Scoring weights: 0.28/0.23/...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64099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5F02"/>
                </a:solidFill>
                <a:latin typeface="Calibri"/>
              </a:defRPr>
            </a:pPr>
            <a:r>
              <a:t>[ASSUMED]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64099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iPSC-context rationale + sensitivity</a:t>
            </a:r>
          </a:p>
        </p:txBody>
      </p:sp>
      <p:pic>
        <p:nvPicPr>
          <p:cNvPr id="39" name="Picture 38" descr="Fig_ParameterProv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931920" cy="39319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21/28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Benchmark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30 ClinVar cases | verified GRCh38 coordinates | all references PMID-confirmed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120640" cy="4572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ClinVar Benchmark (30 cases)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Top-1 accuracy: 86.7% (26/30)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Top-3 accuracy: 96.7% (29/30)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Rejection accuracy: 86.7% (26/30)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8899AA"/>
                </a:solidFill>
                <a:latin typeface="Calibri"/>
              </a:rPr>
              <a:t>Strategy distribution: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D95F02"/>
                </a:solidFill>
                <a:latin typeface="Calibri"/>
              </a:rPr>
              <a:t>  PE: 23/30 (77%)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2ECC71"/>
                </a:solidFill>
                <a:latin typeface="Calibri"/>
              </a:rPr>
              <a:t>  BE:  6/30 (20%)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C107"/>
                </a:solidFill>
                <a:latin typeface="Calibri"/>
              </a:rPr>
              <a:t>  HDR: 1/30  (3%)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1B9E77"/>
                </a:solidFill>
                <a:latin typeface="Calibri"/>
              </a:rPr>
              <a:t>Scoring: 6D TOPSIS + Pareto + VIKOR/WPM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5F02"/>
                </a:solidFill>
                <a:latin typeface="Calibri"/>
              </a:defRPr>
            </a:pPr>
            <a:r>
              <a:t>Literature Benchmark + Technical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33 published cases (20 genes)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Top-1 concordance: 30%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Top-3 concordance: 80%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8899AA"/>
                </a:solidFill>
                <a:latin typeface="Calibri"/>
              </a:rPr>
              <a:t>(Discordance: pre-PE HDR papers)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2ECC71"/>
                </a:solidFill>
                <a:latin typeface="Calibri"/>
              </a:rPr>
              <a:t>Cross-method: 100% concordance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1B9E77"/>
                </a:solidFill>
                <a:latin typeface="Calibri"/>
              </a:rPr>
              <a:t>  (TOPSIS = VIKOR = WPM)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1B9E77"/>
                </a:solidFill>
                <a:latin typeface="Calibri"/>
              </a:rPr>
              <a:t>224 tests passing, 0 failures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1B9E77"/>
                </a:solidFill>
                <a:latin typeface="Calibri"/>
              </a:rPr>
              <a:t>All 20 manuscript refs verified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1B9E77"/>
                </a:solidFill>
                <a:latin typeface="Calibri"/>
              </a:rPr>
              <a:t>Every parameter evidence-tagged</a:t>
            </a:r>
          </a:p>
        </p:txBody>
      </p:sp>
      <p:pic>
        <p:nvPicPr>
          <p:cNvPr id="11" name="Picture 10" descr="Fig_Literature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11247120" cy="2103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22/28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Codebase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MIT License | github.com/visvikbharti/CRISPRArchitect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20040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9E77"/>
                </a:solidFill>
                <a:latin typeface="Calibri"/>
              </a:defRPr>
            </a:pPr>
            <a:r>
              <a:t>224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Tests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20040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95F02"/>
                </a:solidFill>
                <a:latin typeface="Calibri"/>
              </a:defRPr>
            </a:pPr>
            <a:r>
              <a:t>~36,500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Lines of 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371600"/>
            <a:ext cx="320040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C107"/>
                </a:solidFill>
                <a:latin typeface="Calibri"/>
              </a:defRPr>
            </a:pPr>
            <a:r>
              <a:t>5 ×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Nucleases × Editors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00400"/>
            <a:ext cx="320040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Verified Refs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200400"/>
            <a:ext cx="320040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337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98D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TOPSIS Dims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200400"/>
            <a:ext cx="3200400" cy="13716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337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Test Failures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Python 3.9+ | NumPy, SciPy, Matplotlib | Streamlit web app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Docker + docker-compose ready | GitHub Actions CI (Python 3.9-3.12)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HGVS parser + ClinVar batch ingestion | CLI + web interface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23/28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Limitations (Honest)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What we cannot do and what we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1">
                <a:solidFill>
                  <a:srgbClr val="E74C3C"/>
                </a:solidFill>
                <a:latin typeface="Calibri"/>
              </a:rPr>
              <a:t>No experimental validation yet — benchmark uses self-curated truth labels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ConversionSim models SDSA only; ssODN (SSTR) predictions are invalid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SDSA displacement probability p=0.002 is [ASSUMED], not directly measured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enFnCas9 stagger (3 bp) and HDR multiplier (1.5x) are not experimentally verified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Off-target scoring is local only (no genome-wide search)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No chromatin accessibility or replication timing data integration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Large deletion strategies (multi-exon) are poorly handled (0/3 accuracy)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Benchmark has degenerate pattern: PE still dominates in 23/30 cases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Need independent expert labeling of benchmark cases (Cohen's kappa)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Need comparison against empirical editing data (Song 2020, Chen 2021)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24/28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SDSA Parameter Robustness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Is p=0.002 [ASSUMED] a problem? No.</a:t>
            </a:r>
          </a:p>
        </p:txBody>
      </p:sp>
      <p:pic>
        <p:nvPicPr>
          <p:cNvPr id="5" name="Picture 4" descr="Fig_SDSA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772400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188720"/>
            <a:ext cx="3474720" cy="50292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2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200" b="0">
                <a:solidFill>
                  <a:srgbClr val="FFFFFF"/>
                </a:solidFill>
                <a:latin typeface="Calibri"/>
              </a:rPr>
              <a:t>Swept p from 0.001 to 0.005 (10-fold range)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2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200" b="0">
                <a:solidFill>
                  <a:srgbClr val="FFFFFF"/>
                </a:solidFill>
                <a:latin typeface="Calibri"/>
              </a:rPr>
              <a:t>10,000 simulations per p value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2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200" b="0">
                <a:solidFill>
                  <a:srgbClr val="FFFFFF"/>
                </a:solidFill>
                <a:latin typeface="Calibri"/>
              </a:rPr>
              <a:t>Mean tract: 200-2,358 bp across range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2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200" b="0">
                <a:solidFill>
                  <a:srgbClr val="FFFFFF"/>
                </a:solidFill>
                <a:latin typeface="Calibri"/>
              </a:rPr>
              <a:t>HDR rate: 1.7%-3.5% (always feasible)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2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200" b="1">
                <a:solidFill>
                  <a:srgbClr val="1B9E77"/>
                </a:solidFill>
                <a:latin typeface="Calibri"/>
              </a:rPr>
              <a:t>cssDNA advantage maintained at ALL p values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2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200" b="1">
                <a:solidFill>
                  <a:srgbClr val="2ECC71"/>
                </a:solidFill>
                <a:latin typeface="Calibri"/>
              </a:rPr>
              <a:t>Strategy rankings ROBUST to p variation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2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200" b="0">
                <a:solidFill>
                  <a:srgbClr val="FFFFFF"/>
                </a:solidFill>
                <a:latin typeface="Calibri"/>
              </a:rPr>
              <a:t>p=0.002 is [ASSUMED] but not a vulnerability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25/28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Delivery-Aware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New: Post-ranking delivery feasibility annotations (87 refs)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57600" cy="48463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5F02"/>
                </a:solidFill>
                <a:latin typeface="Calibri"/>
              </a:defRPr>
            </a:pPr>
            <a:r>
              <a:t>Tier 1: Hard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AAV6 payload limit: 4.7 kb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300" b="1">
                <a:solidFill>
                  <a:srgbClr val="E74C3C"/>
                </a:solidFill>
                <a:latin typeface="Calibri"/>
              </a:rPr>
              <a:t>dsDNA in iPSCs: p53 apoptosis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HDR needs S/G2 (quiescent HSCs)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Lipofection &lt;5% in CD34+ HSCs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D95F02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VLPs cannot carry donor DNA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57600" cy="48463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Tier 2: Donor Format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SNP (&lt;50 bp): ssODN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300" b="1">
                <a:solidFill>
                  <a:srgbClr val="1B9E77"/>
                </a:solidFill>
                <a:latin typeface="Calibri"/>
              </a:rPr>
              <a:t>50 bp-2 kb: cssDNA preferred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2-5 kb: cssDNA or AAV6 (HSCs)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5-20 kb: cssDNA (GATALYST)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300" b="1">
                <a:solidFill>
                  <a:srgbClr val="2ECC71"/>
                </a:solidFill>
                <a:latin typeface="Calibri"/>
              </a:rPr>
              <a:t>cssDNA 3-5x &gt; lssDNA (3 studies)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300" b="1">
                <a:solidFill>
                  <a:srgbClr val="2ECC71"/>
                </a:solidFill>
                <a:latin typeface="Calibri"/>
              </a:rPr>
              <a:t>cssDNA 5x better engraftment vs AAV6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657600" cy="484632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t>Cell-Type Guidance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iPSC: Avoid dsDNA; use ROCK-i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iPSC: BCL-XL for HDR (20-100x)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iPSC: p53DD for PE/CBE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HSC: Pre-stim 48h SCF/TPO/FLT3L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HSC: HiFi Cas9 for off-target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FFC107"/>
                </a:solidFill>
                <a:latin typeface="Calibri"/>
              </a:rPr>
              <a:t>  ▸  </a:t>
            </a:r>
            <a:r>
              <a:rPr sz="1300" b="0">
                <a:solidFill>
                  <a:srgbClr val="FFFFFF"/>
                </a:solidFill>
                <a:latin typeface="Calibri"/>
              </a:rPr>
              <a:t>HSC: Minimize culture (stemness)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Evidence: 87 verified refs | Iyer 2022, Xie 2024, Letort 2025, Ihry 2018, Dever 2016, Frangoul 2021 | Does NOT change TOPSIS rankings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26/28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Roadmap to PLOS Computational Biology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120640" cy="4572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t>From the Lab (data request sent)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FFC10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3-5 iPSC editing cases (any gene, any strategy)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FFC10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enFnCas9 cut-site stagger measurement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FFC10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enFnCas9 vs SpCas9 HDR comparison (2-3 loci)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FFC10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enFnCas9-ABE8e editing window (if tested)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2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9E77"/>
                </a:solidFill>
                <a:latin typeface="Calibri"/>
              </a:defRPr>
            </a:pPr>
            <a:r>
              <a:t>Computational (in progress)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400" b="1">
                <a:solidFill>
                  <a:srgbClr val="2ECC71"/>
                </a:solidFill>
                <a:latin typeface="Calibri"/>
              </a:rPr>
              <a:t>SDSA sensitivity analysis — DONE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400" b="1">
                <a:solidFill>
                  <a:srgbClr val="2ECC71"/>
                </a:solidFill>
                <a:latin typeface="Calibri"/>
              </a:rPr>
              <a:t>Delivery-aware recommendations — DONE (87 refs)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Expand benchmark to 30+ published cases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Validate BE against Song et al. 2020 data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Rebuild manuscript for PLOS Comp Bio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B9E77"/>
                </a:solidFill>
                <a:latin typeface="Calibri"/>
              </a:rPr>
              <a:t>  ▸  </a:t>
            </a:r>
            <a:r>
              <a:rPr sz="1400" b="0">
                <a:solidFill>
                  <a:srgbClr val="FFFFFF"/>
                </a:solidFill>
                <a:latin typeface="Calibri"/>
              </a:rPr>
              <a:t>Independent expert labeling of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27/28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B9E77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274320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EF4"/>
                </a:solidFill>
                <a:latin typeface="Calibri"/>
              </a:defRPr>
            </a:pPr>
            <a:r>
              <a:t>Vishal Bharti  |  Debojyoti Chakraborty Lab  |  CSIR-IGIB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github.com/visvikbharti/CRISPRArchitect  |  MIT License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Key takeaway: CRISPRArchitect provides transparent,</a:t>
            </a:r>
            <a:br/>
            <a:r>
              <a:t>method-robust, uncertainty-quantified strategy recommendations</a:t>
            </a:r>
            <a:br/>
            <a:r>
              <a:t>with every parameter traceable to published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28/28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