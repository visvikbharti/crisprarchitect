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CRISPRArchitect v3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1B9E77"/>
                </a:solidFill>
                <a:latin typeface="Calibri"/>
              </a:defRPr>
            </a:pPr>
            <a:r>
              <a:t>Multi-Nuclease Decision Support for</a:t>
            </a:r>
            <a:br/>
            <a:r>
              <a:t>Genome Editing Strategy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95F02"/>
                </a:solidFill>
                <a:latin typeface="Calibri"/>
              </a:defRPr>
            </a:pPr>
            <a:r>
              <a:t>TOPSIS Multi-Criteria Ranking  |  Pareto Analysis  |  Sensitivity Quantification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3192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EF4"/>
                </a:solidFill>
                <a:latin typeface="Calibri"/>
              </a:defRPr>
            </a:pPr>
            <a:r>
              <a:t>Vishal Bharti  |  Debojyoti Chakraborty Lab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CSIR-Institute of Genomics and Integrative Biology, New Delhi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99AA"/>
                </a:solidFill>
                <a:latin typeface="Calibri"/>
              </a:defRPr>
            </a:pPr>
            <a:r>
              <a:t>Lab Meeting  |  April 2026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8899AA"/>
                </a:solidFill>
                <a:latin typeface="Calibri"/>
              </a:defRPr>
            </a:pPr>
            <a:r>
              <a:t>v1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9264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1B9E77"/>
                </a:solidFill>
                <a:latin typeface="Calibri"/>
              </a:defRPr>
            </a:pPr>
            <a:r>
              <a:t>v2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55680" y="5303520"/>
            <a:ext cx="1188720" cy="457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0" y="534924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D95F02"/>
                </a:solidFill>
                <a:latin typeface="Calibri"/>
              </a:defRPr>
            </a:pPr>
            <a: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1/25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Why do we need a unified editing framework?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Multiple modalities (BE, PE, HDR) with distinct constraints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No tool compares all three modalities side by side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PAM + editing window is a hidden bottleneck (our key finding)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iPSCs are p53-active: DSBs kill most cells (Ihry et al., 2018)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Multi-nuclease options expand the design space enormously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7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700" b="0">
                <a:solidFill>
                  <a:srgbClr val="FFFFFF"/>
                </a:solidFill>
                <a:latin typeface="Calibri"/>
              </a:rPr>
              <a:t>Clinical applications demand transparent, auditable decisions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Base Editing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6596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A&gt;G or C&gt;T only, narrow window (4-8 nt)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92608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0175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Prime Editing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342900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Any edit, no DSB, complex pegRNA design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389120"/>
            <a:ext cx="5029200" cy="11887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4805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HDR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892040"/>
            <a:ext cx="4663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DSB required, p53 toxicity in iPSCs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 is CRISPRArchitect?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 decision-support tool, not a predictive optimizer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Input: pathogenic variant(s) in HGVS notation or genomic coordinates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Automatically fetches transcript structure from Ensembl (GRCh38)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Maps variant to CDS, annotates coding consequence (ACMG standards)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Scans for PAM sites across 5 nucleases, evaluates 7 base editors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Assesses feasibility of BE, PE, and HDR with locus-specific constraints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Output: ranked strategies with TOPSIS scores, Pareto analysis,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         sensitivity quantification, and explicit rejection reasons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Transparent: every score, weight, and parameter has documented provenance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v1 Foundation: 6 Simulation Modules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~24,000 lines of code | Monte Carlo biophysical simulations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ConversionSim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Gene conversion tract simulation (SDSA pathway)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Monte Carlo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MOSAIC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Multi-locus strategy optimizer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Decision engine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21040" y="137160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03920" y="15087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ChromBridge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192024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3D chromatin distance predictor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2743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Polymer physics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TopoPred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cssDNA secondary structure analyzer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Thermodynamics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8056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6344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LoopSim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Cohesin loop extrusion simulator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Stochastic 1D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0" y="3931920"/>
            <a:ext cx="3566160" cy="21031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03920" y="40690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WebApp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4480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Interactive Streamlit interface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53035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Method: 7 analysis pages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v2: Transcript-Aware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~9,400 LOC | 30 ClinVar benchmark cases | 123 tests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Ensembl REST API integration (GRCh38 coordinates)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Reference allele validation against genome sequence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Coding consequence annotation (ACMG standards)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PAM-verified feasibility: BE, PE, HDR engines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Weighted-sum scoring with consequence adjustments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30-case ClinVar benchmark: 86.7% top-1 accuracy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B9E77"/>
                </a:solidFill>
                <a:latin typeface="Calibri"/>
              </a:defRPr>
            </a:pPr>
            <a:r>
              <a:t>v2 Benchmark Results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103120"/>
            <a:ext cx="46634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8899AA"/>
                </a:solidFill>
                <a:latin typeface="Calibri"/>
              </a:rPr>
              <a:t>Strategy distribution: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D95F02"/>
                </a:solidFill>
                <a:latin typeface="Calibri"/>
              </a:rPr>
              <a:t>  PE: 29/30 (96.7%)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C107"/>
                </a:solidFill>
                <a:latin typeface="Calibri"/>
              </a:rPr>
              <a:t>  HDR: 1/30 (3.3%)</a:t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  BE: 0/30 (0.0%)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Problem: PE always wins.</a:t>
            </a:r>
          </a:p>
          <a:p>
            <a:pPr>
              <a:lnSpc>
                <a:spcPct val="130000"/>
              </a:lnSpc>
            </a:pPr>
            <a:r>
              <a:rPr sz="1500" b="0">
                <a:solidFill>
                  <a:srgbClr val="E74C3C"/>
                </a:solidFill>
                <a:latin typeface="Calibri"/>
              </a:rPr>
              <a:t>Even at ABE-compatible loci!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v2 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PAM-Window Is the Real Bottleneck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The most important result from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10789920" cy="1828800"/>
          </a:xfrm>
          <a:prstGeom prst="roundRect">
            <a:avLst/>
          </a:prstGeom>
          <a:solidFill>
            <a:srgbClr val="2A15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3736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D95F02"/>
                </a:solidFill>
                <a:latin typeface="Calibri"/>
              </a:defRPr>
            </a:pPr>
            <a:r>
              <a:t>At ALL 7 ClinVar loci with ABE-compatible transitions,</a:t>
            </a:r>
            <a:br/>
            <a:r>
              <a:t>NO SpCas9 guide placed the target base within ABE positions 4-7.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68880"/>
            <a:ext cx="10241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FFFFF"/>
                </a:solidFill>
                <a:latin typeface="Calibri"/>
              </a:defRPr>
            </a:pPr>
            <a:r>
              <a:t>Mutation-type classification alone is INSUFFICIENT for strategy selection.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A&gt;G does NOT mean ABE will work at that locus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The PAM must position the target A at protospacer position 4-7 (ABE7.10)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This motivated v3: broader PAM nucleases + wider editing windows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VERSION 3.0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New in v3?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Three major capabilities + scientific rigor overhaul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9E77"/>
                </a:solidFill>
                <a:latin typeface="Calibri"/>
              </a:defRPr>
            </a:pPr>
            <a:r>
              <a:t>Multi-Nuclease</a:t>
            </a:r>
            <a:br/>
            <a:r>
              <a:t>Engine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2743200"/>
            <a:ext cx="256032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5 nucleases x 7 editors</a:t>
            </a:r>
            <a:br/>
            <a:r>
              <a:t>= 35 combinations</a:t>
            </a:r>
            <a:br/>
            <a:r>
              <a:t>rescued BE: 0/30 -&gt; 6/30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8056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5F02"/>
                </a:solidFill>
                <a:latin typeface="Calibri"/>
              </a:defRPr>
            </a:pPr>
            <a:r>
              <a:t>TOPSIS 6D</a:t>
            </a:r>
            <a:br/>
            <a:r>
              <a:t>+ Pareto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2743200"/>
            <a:ext cx="2560320" cy="36576"/>
          </a:xfrm>
          <a:prstGeom prst="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6-dimension ranking</a:t>
            </a:r>
            <a:br/>
            <a:r>
              <a:t>+ weight-independent</a:t>
            </a:r>
            <a:br/>
            <a:r>
              <a:t>Pareto dominance analysis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34747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1737360"/>
            <a:ext cx="3108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107"/>
                </a:solidFill>
                <a:latin typeface="Calibri"/>
              </a:defRPr>
            </a:pPr>
            <a:r>
              <a:t>Statistical</a:t>
            </a:r>
            <a:br/>
            <a:r>
              <a:t>Rigor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240" y="2743200"/>
            <a:ext cx="256032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92608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CCCCCC"/>
                </a:solidFill>
                <a:latin typeface="Calibri"/>
              </a:defRPr>
            </a:pPr>
            <a:r>
              <a:t>SEs, 95% CIs, Wilson intervals</a:t>
            </a:r>
            <a:br/>
            <a:r>
              <a:t>Dirichlet sensitivity</a:t>
            </a:r>
            <a:br/>
            <a:r>
              <a:t>All params evidence-tagged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43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899AA"/>
                </a:solidFill>
                <a:latin typeface="Calibri"/>
              </a:defRPr>
            </a:pPr>
            <a:r>
              <a:t>Also: HGVS parser, ClinVar batch ingestion, CFD/MIT off-target scoring, VIKOR/WPM comparison methods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Multi-Nuclease Feasibility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Systematic evaluation of 5 nucleases x 7 base editors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11247120" cy="457200"/>
          </a:xfrm>
          <a:prstGeom prst="round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173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Nuclease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PAM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Stagger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4173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HDR mult.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0" y="141732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Reference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8745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9202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SpCas9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NGG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920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1.0x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19202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Reference standard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331720"/>
            <a:ext cx="11247120" cy="4114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3774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enFnCas9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NRG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~3 bp*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3774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1.5x*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3774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Our lab (Acharya et al., 2024)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27889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28346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SpCas9-NG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9456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28346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1.0x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28346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Nishimasu et al., 2018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246120"/>
            <a:ext cx="11247120" cy="411480"/>
          </a:xfrm>
          <a:prstGeom prst="roundRect">
            <a:avLst/>
          </a:prstGeom>
          <a:solidFill>
            <a:srgbClr val="1B28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2918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SpRY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456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NNN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9184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Blunt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120" y="32918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0.8x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0" y="32918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Walton et al., 2020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3703320"/>
            <a:ext cx="11247120" cy="4114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" y="374904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Cas12a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9456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TTTV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5 bp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389120" y="3749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1.4x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374904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FFFFFF"/>
                </a:solidFill>
                <a:latin typeface="Calibri"/>
              </a:defRPr>
            </a:pPr>
            <a:r>
              <a:t>Zetsche et al., 2015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41148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* enFnCas9 stagger is [ASSUMED] — not directly measured. HDR multiplier is [ASSUMED]. See parameter provenance.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11247120" cy="16459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84632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Base Editor Profiles (7 editors)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" y="53035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ABE7.10: window 4-7 (Tier A)</a:t>
            </a:r>
          </a:p>
          <a:p>
            <a:pPr>
              <a:lnSpc>
                <a:spcPct val="130000"/>
              </a:lnSpc>
            </a:pPr>
            <a:r>
              <a:rPr sz="1300" b="1">
                <a:solidFill>
                  <a:srgbClr val="1B9E77"/>
                </a:solidFill>
                <a:latin typeface="Calibri"/>
              </a:rPr>
              <a:t>ABE8e: window 3-9 extended (Tier A)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BE4max: window 4-8 (Tier A)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43600" y="5303520"/>
            <a:ext cx="5029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ABE8e + enFnCas9: NRG + broad window (Tier B)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ABE8e + SpCas9-NG: NG PAM access (Tier B)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BE4max + enFnCas9: NRG + CBE (Tier B)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enFnCas9: Our Lab's Engineered Nuclease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Acharya et al., Nature Communications 15:5471 (2024)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FFFFFF"/>
                </a:solidFill>
                <a:latin typeface="Calibri"/>
              </a:rPr>
              <a:t>NRG PAM: ~2x more targetable sites than NGG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Single-nucleobase specificity (lower off-target than SpCas9)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Improved HDR knock-in rates demonstrated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Three engineered variants: en1, en15, en31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RPE65 correction in LCA2 patient iPSCs demonstrated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371600"/>
            <a:ext cx="502920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46304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[MEASURED] from 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NRG/NGR PAM recognition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Single-nucleobase specificity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Improved HDR knock-in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3657600"/>
            <a:ext cx="502920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749039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D95F02"/>
                </a:solidFill>
                <a:latin typeface="Calibri"/>
              </a:defRPr>
            </a:pPr>
            <a:r>
              <a:t>[ASSUMED] — need experimental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4206240"/>
            <a:ext cx="46634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Stagger: ~3 bp 5' overhang (from FnCas9 structure)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HDR multiplier: 1.5x (qualitative from paper)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D95F02"/>
                </a:solidFill>
                <a:latin typeface="Calibri"/>
              </a:rPr>
              <a:t>ABE8e-enFnCas9 window: 3-9 (extrapolated)</a:t>
            </a:r>
          </a:p>
          <a:p>
            <a:pPr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300" b="1">
                <a:solidFill>
                  <a:srgbClr val="FFC107"/>
                </a:solidFill>
                <a:latin typeface="Calibri"/>
              </a:rPr>
              <a:t>Data request sent to 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How Multi-Nuclease Rescues Base Editing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ABE8e + enFnCas9 = broader PAM + wider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v2 (SpCas9 + ABE7.10 only)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PAM: NGG only (~8% of positions)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Window: positions 4-7 (4 nt)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E74C3C"/>
                </a:solidFill>
                <a:latin typeface="Calibri"/>
              </a:rPr>
              <a:t>Result: 0/30 BE top-ranked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CCCCCC"/>
                </a:solidFill>
                <a:latin typeface="Calibri"/>
              </a:rPr>
              <a:t>Even at 7 ABE-compatible loci,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CCCCCC"/>
                </a:solidFill>
                <a:latin typeface="Calibri"/>
              </a:rPr>
              <a:t>no guide placed target in window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v3 (5 nucleases + ABE8e)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PAM: NGG + NRG + NG + NNN + TTTV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>Window: positions 3-9 (7 nt, ABE8e)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2ECC71"/>
                </a:solidFill>
                <a:latin typeface="Calibri"/>
              </a:rPr>
              <a:t>Result: 6/30 BE top-ranked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B9E77"/>
                </a:solidFill>
                <a:latin typeface="Calibri"/>
              </a:rPr>
              <a:t>ABE8e window (3-9) is ~3x broader</a:t>
            </a:r>
          </a:p>
          <a:p>
            <a:pPr>
              <a:lnSpc>
                <a:spcPct val="140000"/>
              </a:lnSpc>
            </a:pPr>
            <a:r>
              <a:rPr sz="1500" b="0">
                <a:solidFill>
                  <a:srgbClr val="1B9E77"/>
                </a:solidFill>
                <a:latin typeface="Calibri"/>
              </a:rPr>
              <a:t>enFnCas9 (NRG) ~2x more PAM sites</a:t>
            </a:r>
          </a:p>
          <a:p>
            <a:pPr>
              <a:lnSpc>
                <a:spcPct val="140000"/>
              </a:lnSpc>
            </a:pPr>
            <a:r>
              <a:rPr sz="1500" b="1">
                <a:solidFill>
                  <a:srgbClr val="1B9E77"/>
                </a:solidFill>
                <a:latin typeface="Calibri"/>
              </a:rPr>
              <a:t>Combined: rescues BE at 6 loci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v3 KEY FINDING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Base Editing Rescued: 0/30 to 6/30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554480"/>
            <a:ext cx="10789920" cy="1371600"/>
          </a:xfrm>
          <a:prstGeom prst="round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3736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CC71"/>
                </a:solidFill>
                <a:latin typeface="Calibri"/>
              </a:defRPr>
            </a:pPr>
            <a:r>
              <a:t>v3 strategy distribution: BE 20% | PE 77% | HDR 3%</a:t>
            </a:r>
            <a:br/>
            <a:r>
              <a:t>(v2 was: BE 0% | PE 97% | HDR 3%)</a:t>
            </a:r>
          </a:p>
        </p:txBody>
      </p:sp>
      <p:pic>
        <p:nvPicPr>
          <p:cNvPr id="8" name="Picture 7" descr="Fig_StrategyDistribution_v2_v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17520"/>
            <a:ext cx="5943600" cy="32004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7132320" y="3200400"/>
            <a:ext cx="2103120" cy="9144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6/30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 v3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418320" y="3200400"/>
            <a:ext cx="2103120" cy="9144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0" y="3337560"/>
            <a:ext cx="2103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E74C3C"/>
                </a:solidFill>
                <a:latin typeface="Calibri"/>
              </a:defRPr>
            </a:pPr>
            <a:r>
              <a:t>0/30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0" y="38404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BE v2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457200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Primary drivers:</a:t>
            </a:r>
            <a:br/>
            <a:r>
              <a:t>  ABE8e broader window (3-9)</a:t>
            </a:r>
            <a:br/>
            <a:r>
              <a:t>  enFnCas9 NRG PAM</a:t>
            </a:r>
            <a:br/>
            <a:r>
              <a:t>Bug fixed: bystander triple-count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6-Dimensional TOPSIS Scoring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Technique for Order Preference by Similarity to Ideal Solution (Hwang &amp; Yoon, 1981)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Safety (w=0.28)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DSBs, p53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Feasibility (w=0.23)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PAM + window verified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Complexity (w=0.19)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1920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Rounds, donors, screening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468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Cost dimension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Risk (w=0.14)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Rearrangement only*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Cost dimension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6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Confidence (w=0.09)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056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Evidence tier (A/B/C)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6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38160" y="3657600"/>
            <a:ext cx="3566160" cy="192024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7490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Consequence (w=0.07)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2062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Bystander edits, splice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47548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Type: Benefit dimension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126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899AA"/>
                </a:solidFill>
                <a:latin typeface="Calibri"/>
              </a:defRPr>
            </a:pPr>
            <a:r>
              <a:t>* Risk now captures ONLY structural rearrangement. Bystander edits moved to Consequence dimension to prevent double-counting.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51E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457200"/>
          </a:xfrm>
          <a:prstGeom prst="round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"/>
            <a:ext cx="121916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CRITICAL BUG FIX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Bystander Triple-Counting Eliminated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Root cause of the degenerate 'always PE' pattern in v2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54480"/>
            <a:ext cx="512064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74C3C"/>
                </a:solidFill>
                <a:latin typeface="Calibri"/>
              </a:defRPr>
            </a:pPr>
            <a:r>
              <a:t>v2 Bug: 3 Penalty Channels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47548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1. Risk dimension: severity x 0.3 x w=0.15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Penalty for 1 bystander: 0.009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2. Consequence penalty: severity x 0.08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Penalty for 1 bystander: 0.016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3. Lost clean design bonus: -0.03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 (PE gets +0.03, BE loses it)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TOTAL penalty for 1 bystander: 0.055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BE feasibility advantage: only 0.033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=&gt; PE always wins with any bystander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554480"/>
            <a:ext cx="5303520" cy="41148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6459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v3 Fix: Single Consequence 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94560"/>
            <a:ext cx="4937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Bystander removed from Risk dimension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Consequence is now a proper 6th TOPSIS dim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No additive post-hoc penalty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Clean bonus is a tie-breaker only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Result: BE wins with 0-3 bystanders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2ECC71"/>
                </a:solidFill>
                <a:latin typeface="Calibri"/>
              </a:rPr>
              <a:t>PE wins only with 4+ bystanders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Ranking reflects true biology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B9E77"/>
                </a:solidFill>
                <a:latin typeface="Calibri"/>
              </a:rPr>
              <a:t>All 3 MCDM methods agree: 100%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1B9E77"/>
                </a:solidFill>
                <a:latin typeface="Calibri"/>
              </a:rPr>
              <a:t>concordance (TOPSIS, VIKOR, WPM)</a:t>
            </a:r>
          </a:p>
        </p:txBody>
      </p:sp>
      <p:pic>
        <p:nvPicPr>
          <p:cNvPr id="13" name="Picture 12" descr="Fig_BystanterF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114800"/>
            <a:ext cx="5669280" cy="24688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Pareto Front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Weight-independent dominance check across all 6 dimensions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Strategy A dominates B if A is at least as good on ALL dimensions and strictly better on at least one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Pareto non-dominated strategies form the 'Pareto front' — defensible under SOME weighting scheme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0">
                <a:solidFill>
                  <a:srgbClr val="FFFFFF"/>
                </a:solidFill>
                <a:latin typeface="Calibri"/>
              </a:rPr>
              <a:t>This analysis requires NO weight assumptions — it is purely structural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6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600" b="1">
                <a:solidFill>
                  <a:srgbClr val="1B9E77"/>
                </a:solidFill>
                <a:latin typeface="Calibri"/>
              </a:rPr>
              <a:t>Complement to TOPSIS: shows which strategies COULD be optimal under any weights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114800"/>
            <a:ext cx="1078992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2062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Typical Result: BE vs PE vs HDR (1 bystander)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BE: Pareto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(better feasibility, slightly worse consequence)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PE: Pareto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(better consequence, lower feasibility)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0" y="47548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E74C3C"/>
                </a:solidFill>
                <a:latin typeface="Calibri"/>
              </a:rPr>
              <a:t>HDR: Pareto 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(worse on safety AND feasibility AND confidence)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  =&gt; HDR is never optimal regardless of weights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Monte Carlo Sensitivity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10,000 Dirichlet-sampled weight permutations (concentration=20)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Instead of reporting a single 'best' strategy, we report: How stable is the ranking?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Rank stability = fraction of 10,000 weight permutations where strategy is #1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Dirichlet distribution with concentration=20, min_alpha=2.0 (prevents pathological weights)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74720"/>
            <a:ext cx="10789920" cy="2743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5661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Example Output (typical case):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1480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0">
                <a:solidFill>
                  <a:srgbClr val="2ECC71"/>
                </a:solidFill>
                <a:latin typeface="Calibri"/>
              </a:rPr>
              <a:t>#1 Single-step Base Editing     TOPSIS=0.995  Stability=94.2%  Pareto: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#2 Single-step Prime Editing    TOPSIS=0.869  Stability=5.8%   Pareto: non-dominated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#3 Single-step HDR              TOPSIS=0.005  Stability=0.0%   Pareto: dominated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CCCCCC"/>
                </a:solidFill>
                <a:latin typeface="Calibri"/>
              </a:rPr>
              <a:t>Interpretation: BE is top-ranked in 94.2% of weight permutations.</a:t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1B9E77"/>
                </a:solidFill>
                <a:latin typeface="Calibri"/>
              </a:rPr>
              <a:t>The recommendation is ROBUST — it does not depend on the specific weight values.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Cross-Method Validation: TOPSIS + VIKOR + WPM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Three independent MCDM methods agree on rankings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B9E77"/>
                </a:solidFill>
                <a:latin typeface="Calibri"/>
              </a:defRPr>
            </a:pPr>
            <a:r>
              <a:t>TOPSIS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011680"/>
            <a:ext cx="265176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Euclidean distance to</a:t>
            </a:r>
            <a:br/>
            <a:r>
              <a:t>ideal/anti-ideal solutions</a:t>
            </a:r>
            <a:br/>
            <a:r>
              <a:t>(Hwang &amp; Yoon, 1981)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D95F02"/>
                </a:solidFill>
                <a:latin typeface="Calibri"/>
              </a:defRPr>
            </a:pPr>
            <a:r>
              <a:t>VIKOR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0" y="2011680"/>
            <a:ext cx="2651760" cy="36576"/>
          </a:xfrm>
          <a:prstGeom prst="rect">
            <a:avLst/>
          </a:prstGeom>
          <a:solidFill>
            <a:srgbClr val="D95F0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Compromise solution</a:t>
            </a:r>
            <a:br/>
            <a:r>
              <a:t>minimizing group utility</a:t>
            </a:r>
            <a:br/>
            <a:r>
              <a:t>(Opricovic &amp; Tzeng, 2004)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8160" y="1371600"/>
            <a:ext cx="3566160" cy="2286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46304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C107"/>
                </a:solidFill>
                <a:latin typeface="Calibri"/>
              </a:defRPr>
            </a:pPr>
            <a:r>
              <a:t>WPM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595360" y="2011680"/>
            <a:ext cx="2651760" cy="36576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194560"/>
            <a:ext cx="3017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CCCCCC"/>
                </a:solidFill>
                <a:latin typeface="Calibri"/>
              </a:defRPr>
            </a:pPr>
            <a:r>
              <a:t>Weighted geometric mean</a:t>
            </a:r>
            <a:br/>
            <a:r>
              <a:t>Non-compensatory</a:t>
            </a:r>
            <a:br/>
            <a:r>
              <a:t>(Bridgman, 1922)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28800" y="4114800"/>
            <a:ext cx="8503920" cy="2286000"/>
          </a:xfrm>
          <a:prstGeom prst="roundRect">
            <a:avLst/>
          </a:prstGeom>
          <a:solidFill>
            <a:srgbClr val="0A2A1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86000" y="429768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2ECC71"/>
                </a:solidFill>
                <a:latin typeface="Calibri"/>
              </a:defRPr>
            </a:pPr>
            <a:r>
              <a:t>Rank Concordance: 100%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93776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FFFFFF"/>
                </a:solidFill>
                <a:latin typeface="Calibri"/>
              </a:defRPr>
            </a:pPr>
            <a:r>
              <a:t>All three methods produce identical rankings across test cases.</a:t>
            </a:r>
            <a:br/>
            <a:r>
              <a:t>The recommendation is method-robust: it does not depend on the</a:t>
            </a:r>
            <a:br/>
            <a:r>
              <a:t>choice of MCDM algorithm.</a:t>
            </a:r>
          </a:p>
        </p:txBody>
      </p:sp>
      <p:pic>
        <p:nvPicPr>
          <p:cNvPr id="20" name="Picture 19" descr="Fig_CrossMethod_Agre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3931920"/>
            <a:ext cx="8503920" cy="2560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Statistical Rigor in ConversionSim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output now includes uncertainty quantification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HDR rate: binomial SE + 95%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Mean tract length: SE = std/sqrt(n) + 95%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Distance probabilities: Wilson score 95% CI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Sample std with ddof=1 (not population std)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Tract clipping bias removed (lower bound)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SeedSequence spawning (not seed+i)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Numpy vectorized Dirichlet (not stdlib)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5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500" b="0">
                <a:solidFill>
                  <a:srgbClr val="FFFFFF"/>
                </a:solidFill>
                <a:latin typeface="Calibri"/>
              </a:rPr>
              <a:t>Geometric distribution explicitly justified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0" y="1371600"/>
            <a:ext cx="5760720" cy="50292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0" y="146304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B9E77"/>
                </a:solidFill>
                <a:latin typeface="Calibri"/>
              </a:defRPr>
            </a:pPr>
            <a:r>
              <a:t>Example: enFnCas9 + cssDNA + iPSC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2011680"/>
            <a:ext cx="539496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HDR rate: 3.5% (95% CI: [3.2%, 3.9%])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Mean tract: 706 bp (SE=36.9)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1B9E77"/>
                </a:solidFill>
                <a:latin typeface="Calibri"/>
              </a:rPr>
              <a:t>  95% CI: [634, 778] bp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Median: 454 bp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P(tract &gt;= 500 bp):</a:t>
            </a:r>
          </a:p>
          <a:p>
            <a:pPr>
              <a:lnSpc>
                <a:spcPct val="125000"/>
              </a:lnSpc>
            </a:pPr>
            <a:r>
              <a:rPr sz="1300" b="1">
                <a:solidFill>
                  <a:srgbClr val="1B9E77"/>
                </a:solidFill>
                <a:latin typeface="Calibri"/>
              </a:rPr>
              <a:t>  47.2% [42.0%, 52.4%]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>P(tract &gt;= 1000 bp):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1B9E77"/>
                </a:solidFill>
                <a:latin typeface="Calibri"/>
              </a:rPr>
              <a:t>  25.9% [21.6%, 30.7%]</a:t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25000"/>
              </a:lnSpc>
            </a:pPr>
            <a:r>
              <a:rPr sz="1300" b="0">
                <a:solidFill>
                  <a:srgbClr val="8899AA"/>
                </a:solidFill>
                <a:latin typeface="Calibri"/>
              </a:rPr>
              <a:t>n = 10,000 simulations, seed = 42</a:t>
            </a:r>
          </a:p>
        </p:txBody>
      </p:sp>
      <p:pic>
        <p:nvPicPr>
          <p:cNvPr id="9" name="Picture 8" descr="Fig_ConversionSim_C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474720"/>
            <a:ext cx="11247120" cy="32004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ConversionSim: Honest Scope &amp;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SDSA pathway model for long-donor HDR only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2560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Valid for (SDSA pathway):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920240"/>
            <a:ext cx="4754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cssDNA donors (Iyer et al., 2022: 2.07x predicted vs 1.9x observed)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Staggered cuts (Chauhan et al., 2023: 1.82x pred vs 1.9x obs)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2ECC71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dsDNA/lssDNA donors with HA &gt;= 100 bp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256032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NOT valid for (SSTR pathway):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ssODN editing (uses SSTR, not SDSA)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R² = -0.56 vs Paquet 2016 (expected mismatch)</a:t>
            </a:r>
          </a:p>
          <a:p>
            <a:pPr>
              <a:lnSpc>
                <a:spcPct val="140000"/>
              </a:lnSpc>
              <a:spcAft>
                <a:spcPts val="400"/>
              </a:spcAft>
            </a:pPr>
            <a:r>
              <a:rPr sz="1300" b="1">
                <a:solidFill>
                  <a:srgbClr val="E74C3C"/>
                </a:solidFill>
                <a:latin typeface="Calibri"/>
              </a:rPr>
              <a:t>  ▸  </a:t>
            </a:r>
            <a:r>
              <a:rPr sz="1300" b="0">
                <a:solidFill>
                  <a:srgbClr val="FFFFFF"/>
                </a:solidFill>
                <a:latin typeface="Calibri"/>
              </a:rPr>
              <a:t>Prime editing (RT-based, not strand invasion)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89120"/>
            <a:ext cx="10789920" cy="201168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48056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Central parameter: SDSA displacement probability p = 0.002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937760"/>
            <a:ext cx="10424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 b="1">
                <a:solidFill>
                  <a:srgbClr val="D95F02"/>
                </a:solidFill>
                <a:latin typeface="Calibri"/>
              </a:rPr>
              <a:t>Evidence: [ASSUMED] from functional data (not direct measurement)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CCCCCC"/>
                </a:solidFill>
                <a:latin typeface="Calibri"/>
              </a:rPr>
              <a:t>  Stark lab SDSA assay: &gt;= 350 bp synthesis confirmed in human cells (G3, 2017)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CCCCCC"/>
                </a:solidFill>
                <a:latin typeface="Calibri"/>
              </a:rPr>
              <a:t>  Successful HDR with 300-1000 bp homology arms implies routine incorporation at hundreds of bp</a:t>
            </a:r>
          </a:p>
          <a:p>
            <a:pPr>
              <a:lnSpc>
                <a:spcPct val="130000"/>
              </a:lnSpc>
            </a:pPr>
            <a:r>
              <a:rPr sz="1200" b="0">
                <a:solidFill>
                  <a:srgbClr val="8899AA"/>
                </a:solidFill>
                <a:latin typeface="Calibri"/>
              </a:rPr>
              <a:t>  NOT calibrated to: Elliott 1998 (endogenous tracts &lt;58 bp) or Kan 2017 (SSTR tracts ~20 bp)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Citation Integrity: Web-Search Verified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reference and calibration value checked against primary sources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7899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D95F02"/>
                </a:solidFill>
                <a:latin typeface="Calibri"/>
              </a:defRPr>
            </a:pPr>
            <a:r>
              <a:t>Errors Found and Corrected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Paper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2011680"/>
            <a:ext cx="3200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Error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011680"/>
            <a:ext cx="3474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Correction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201168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1B9E77"/>
                </a:solidFill>
                <a:latin typeface="Calibri"/>
              </a:defRPr>
            </a:pPr>
            <a:r>
              <a:t>Status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Arbab et al., 2020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3774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Listed as Nature 584:268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3774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Cell 182:463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0" y="23774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88036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enFnCas9 (Ref 14)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88036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Wrong first author &amp; title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88036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Acharya S et al., correct title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288036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8328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Kan et al., 2017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08960" y="338328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Listed as Mol Cell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38328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Genome Research 27:1099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338328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ECC71"/>
                </a:solidFill>
                <a:latin typeface="Calibri"/>
              </a:defRPr>
            </a:pPr>
            <a:r>
              <a:t>FIXED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88620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Elliott et al., 1998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388620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Claimed tracts 200-2000 bp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38862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Actually 80% of tracts &lt;= 58 bp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388620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REFRAMED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38912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HA 300 nt optimal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438912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Attributed to Iyer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438912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Paper doesn't specify 300 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438912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REFRAMED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892040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Kim et al., 2019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08960" y="4892040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D95F02"/>
                </a:solidFill>
                <a:latin typeface="Calibri"/>
              </a:defRPr>
            </a:pPr>
            <a:r>
              <a:t>13,000 BE targets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89204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Correct: Song et al., Nat Biotech 2020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784080" y="4892040"/>
            <a:ext cx="1371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DOCUMENTED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303520"/>
            <a:ext cx="10424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899AA"/>
                </a:solidFill>
                <a:latin typeface="Calibri"/>
              </a:defRPr>
            </a:pPr>
            <a:r>
              <a:t>20 references verified via web search (PubMed/DOI). 17 verified, 3 corrected. All PMIDs confirmed.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Parameter Provenance System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Every constant tagged [MEASURED], [DERIVED], or [ASSUMED]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43200" y="146304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Value directly from a published measurement with citation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10312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[DERIVED]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219456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Computed from published data via a stated mathematical procedure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10789920" cy="59436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926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926080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Modeling assumption with rationale; explored via sensitivity 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404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Key Parameters with Evidence Tags: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976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SpCas9 cut position: -3 bp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2976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Jinek et al., Science 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9943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ABE7.10 window: 4-7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0" y="45994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459943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Gaudelli et al., Nature 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0118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cssDNA HDR: ~1.9x vs lssDNA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90118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90118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Iyer et al., CRISPR J 2022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2029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vCas9 stagger: &gt;= 6 bp, 1.9x HDR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0" y="5202936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520293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Chauhan et al., PNAS 2023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5046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iPSC viability post-DSB: 55%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5504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[MEASURED]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5504688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Ihry et al., Nat Med 2018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8064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SDSA displacement prob: p=0.002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0" y="580644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66560" y="58064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Functional evidence (see scope slide)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10819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enFnCas9 stagger: 3 bp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610819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66560" y="6108192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FnCas9 structure inference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6409944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FFFFFF"/>
                </a:solidFill>
                <a:latin typeface="Calibri"/>
              </a:defRPr>
            </a:pPr>
            <a:r>
              <a:t>Scoring weights: 0.28/0.23/...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640994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D95F02"/>
                </a:solidFill>
                <a:latin typeface="Calibri"/>
              </a:defRPr>
            </a:pPr>
            <a:r>
              <a:t>[ASSUMED]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66560" y="6409944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8899AA"/>
                </a:solidFill>
                <a:latin typeface="Calibri"/>
              </a:defRPr>
            </a:pPr>
            <a:r>
              <a:t>iPSC-context rationale + sensitivity</a:t>
            </a:r>
          </a:p>
        </p:txBody>
      </p:sp>
      <p:pic>
        <p:nvPicPr>
          <p:cNvPr id="39" name="Picture 38" descr="Fig_ParameterProv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1371600"/>
            <a:ext cx="3931920" cy="3931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Benchmark Results: v2 vs v3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30 ClinVar cases, verified GRCh38 coordinates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v2 Results (SpCas9 + ABE7.10)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Rejection accuracy: 90.0% (27/30)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Strategy: PE=29, HDR=1, BE=0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Scoring: 5D weighted sum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8899AA"/>
                </a:solidFill>
                <a:latin typeface="Calibri"/>
              </a:rPr>
              <a:t>Tests: 123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D95F02"/>
                </a:solidFill>
                <a:latin typeface="Calibri"/>
              </a:defRPr>
            </a:pPr>
            <a:r>
              <a:t>v3 Results (multi-nuclease + TOPSIS 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400" b="1">
                <a:solidFill>
                  <a:srgbClr val="FFFFFF"/>
                </a:solidFill>
                <a:latin typeface="Calibri"/>
              </a:rPr>
              <a:t>Top-1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Top-3 accuracy: 96.7% (29/30)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>Rejection accuracy: 86.7% (26/30)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1">
                <a:solidFill>
                  <a:srgbClr val="2ECC71"/>
                </a:solidFill>
                <a:latin typeface="Calibri"/>
              </a:rPr>
              <a:t>Strategy: PE=23, BE=6, HDR=1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Scoring: 6D TOPSIS + Pareto + VIKOR/WPM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Tests: 198 passing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SEs/CIs on all outputs</a:t>
            </a:r>
          </a:p>
          <a:p>
            <a:pPr>
              <a:lnSpc>
                <a:spcPct val="130000"/>
              </a:lnSpc>
            </a:pPr>
            <a:r>
              <a:rPr sz="1400" b="0">
                <a:solidFill>
                  <a:srgbClr val="D95F02"/>
                </a:solidFill>
                <a:latin typeface="Calibri"/>
              </a:rPr>
              <a:t>All 20 references web-verified</a:t>
            </a:r>
          </a:p>
        </p:txBody>
      </p:sp>
      <p:pic>
        <p:nvPicPr>
          <p:cNvPr id="11" name="Picture 10" descr="Fig_Literature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0"/>
            <a:ext cx="11247120" cy="21031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v3 Codebase Summary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Version 3.0.0 | MIT License | github.com/visvikbharti/CRISPRArchitect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1B9E77"/>
                </a:solidFill>
                <a:latin typeface="Calibri"/>
              </a:defRPr>
            </a:pPr>
            <a:r>
              <a:t>198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Tests Passing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8056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D95F02"/>
                </a:solidFill>
                <a:latin typeface="Calibri"/>
              </a:defRPr>
            </a:pPr>
            <a:r>
              <a:t>3.0.0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Version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321040" y="13716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21040" y="15087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C107"/>
                </a:solidFill>
                <a:latin typeface="Calibri"/>
              </a:defRPr>
            </a:pPr>
            <a:r>
              <a:t>~36,500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Lines of Code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Verified Refs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8056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3498DB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TOPSIS Dims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3200400"/>
            <a:ext cx="3200400" cy="13716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21040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2ECC71"/>
                </a:solidFill>
                <a:latin typeface="Calibri"/>
              </a:defRPr>
            </a:pPr>
            <a: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38404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CCCCCC"/>
                </a:solidFill>
                <a:latin typeface="Calibri"/>
              </a:defRPr>
            </a:pPr>
            <a:r>
              <a:t>Test Failures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2120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Python 3.9+ | NumPy, SciPy, Matplotlib | Streamlit web app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Docker + docker-compose ready | GitHub Actions CI (Python 3.9-3.12)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HGVS parser + ClinVar batch ingestion | CLI + web interface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Limitations (Honest)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What we cannot do and what we need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1">
                <a:solidFill>
                  <a:srgbClr val="E74C3C"/>
                </a:solidFill>
                <a:latin typeface="Calibri"/>
              </a:rPr>
              <a:t>No experimental validation yet — benchmark uses self-curated truth labels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ConversionSim models SDSA only; ssODN (SSTR) predictions are invalid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SDSA displacement probability p=0.002 is [ASSUMED], not directly measured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stagger (3 bp) and HDR multiplier (1.5x) are not experimentally verified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Off-target scoring is local only (no genome-wide search)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No chromatin accessibility or replication timing data integration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Large deletion strategies (multi-exon) are poorly handled (0/3 accuracy)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Benchmark has degenerate pattern: PE still dominates in 23/30 cases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Need independent expert labeling of benchmark cases (Cohen's kappa)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D95F02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Need comparison against empirical editing data (Song 2020, Chen 2021)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83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43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Calibri"/>
              </a:defRPr>
            </a:pPr>
            <a:r>
              <a:t>What's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68680"/>
            <a:ext cx="2286000" cy="36576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9601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Roadmap to PLOS Computational Biology submission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512064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6304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C107"/>
                </a:solidFill>
                <a:latin typeface="Calibri"/>
              </a:defRPr>
            </a:pPr>
            <a:r>
              <a:t>From the Lab (data request sent)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47548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3-5 iPSC editing cases (any gene, any strategy)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cut-site stagger measurement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 vs SpCas9 HDR comparison (2-3 loci)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FFC10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enFnCas9-ABE8e editing window (if tested)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03520" cy="4572000"/>
          </a:xfrm>
          <a:prstGeom prst="roundRect">
            <a:avLst/>
          </a:prstGeom>
          <a:solidFill>
            <a:srgbClr val="2334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63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B9E77"/>
                </a:solidFill>
                <a:latin typeface="Calibri"/>
              </a:defRPr>
            </a:pPr>
            <a:r>
              <a:t>Computational (in progress)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011680"/>
            <a:ext cx="4937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Expand benchmark to 30+ published cases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Validate BE against Song et al. 2020 data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Validate PE against Chen et al. 2021 data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Rebuild manuscript for PLOS Comp Bio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Generate publication-quality figures</a:t>
            </a:r>
          </a:p>
          <a:p>
            <a:pPr>
              <a:lnSpc>
                <a:spcPct val="150000"/>
              </a:lnSpc>
              <a:spcAft>
                <a:spcPts val="400"/>
              </a:spcAft>
            </a:pPr>
            <a:r>
              <a:rPr sz="1400" b="1">
                <a:solidFill>
                  <a:srgbClr val="1B9E77"/>
                </a:solidFill>
                <a:latin typeface="Calibri"/>
              </a:rPr>
              <a:t>  ▸  </a:t>
            </a:r>
            <a:r>
              <a:rPr sz="1400" b="0">
                <a:solidFill>
                  <a:srgbClr val="FFFFFF"/>
                </a:solidFill>
                <a:latin typeface="Calibri"/>
              </a:rPr>
              <a:t>Independent expert labeling of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31C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B9E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56032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0">
                <a:solidFill>
                  <a:srgbClr val="1B9E77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3291840"/>
            <a:ext cx="2743200" cy="27432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EF4"/>
                </a:solidFill>
                <a:latin typeface="Calibri"/>
              </a:defRPr>
            </a:pPr>
            <a:r>
              <a:t>Vishal Bharti  |  Debojyoti Chakraborty Lab  |  CSIR-IGIB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899AA"/>
                </a:solidFill>
                <a:latin typeface="Calibri"/>
              </a:defRPr>
            </a:pPr>
            <a:r>
              <a:t>github.com/visvikbharti/CRISPRArchitect  |  MIT License  |  v3.0.0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029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Key takeaway: CRISPRArchitect v3 provides transparent,</a:t>
            </a:r>
            <a:br/>
            <a:r>
              <a:t>method-robust, uncertainty-quantified strategy recommendations</a:t>
            </a:r>
            <a:br/>
            <a:r>
              <a:t>with every parameter traceable to published evidence.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44652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8899AA"/>
                </a:solidFill>
                <a:latin typeface="Calibri"/>
              </a:defRPr>
            </a:pPr>
            <a:r>
              <a:t>25/25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