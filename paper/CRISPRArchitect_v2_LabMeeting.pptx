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CRISPRArchitect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B9E77"/>
                </a:solidFill>
                <a:latin typeface="Calibri"/>
              </a:defRPr>
            </a:pPr>
            <a:r>
              <a:t>Transcript-Aware and Consequence-Guided</a:t>
            </a:r>
            <a:br/>
            <a:r>
              <a:t>Design of Genome Editing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27432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EF4"/>
                </a:solidFill>
                <a:latin typeface="Calibri"/>
              </a:defRPr>
            </a:pPr>
            <a:r>
              <a:t>Vishal Bharti  |  Debojyoti Chakraborty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Calibri"/>
              </a:defRPr>
            </a:pPr>
            <a:r>
              <a:t>CSIR-Institute of Genomics and Integrative Biology, New Delhi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Calibri"/>
              </a:defRPr>
            </a:pPr>
            <a:r>
              <a:t>Lab Meeting  |  March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5029200"/>
            <a:ext cx="1371600" cy="4572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5074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9E77"/>
                </a:solidFill>
                <a:latin typeface="Calibri"/>
              </a:defRPr>
            </a:pPr>
            <a:r>
              <a:t>v1 +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Why do we need a unified editing framework?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Multiple editing modalities (BE, PE, HDR) each with distinct constraints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No unified framework for systematic comparison across strategies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Researchers rely on heuristic, ad hoc decision-making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Risk of selecting suboptimal or infeasible strategies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Feasibility depends on local sequence context (PAM, editing window)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Clinical applications demand explicit rejection reasoning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10972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Base Editing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Restricted to specific transitions within a narrow window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34640"/>
            <a:ext cx="5029200" cy="10972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5F02"/>
                </a:solidFill>
                <a:latin typeface="Calibri"/>
              </a:defRPr>
            </a:pPr>
            <a:r>
              <a:t>Prime Editing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91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Versatile but complex pegRNA design 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206240"/>
            <a:ext cx="5029200" cy="10972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297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Calibri"/>
              </a:defRPr>
            </a:pPr>
            <a:r>
              <a:t>HDR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6634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DSB-dependent, variable efficiency, donor design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is CRISPRArchitect?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A computational decision framework for genome editing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Unified evaluation of BE + PE + HDR for any point mutation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Transcript-aware: maps genomic variants to CDS, codons, amino acids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Consequence-guided: penalizes splice damage, bystander nonsense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Explicit rejection of infeasible strategies with reasoning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PAM-verified feasibility (not just mutation-type heuristics)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Supports SpCas9 (NGG) and enFnCas9 (NRG)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846320" cy="32004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783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t>Key Differentiators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2240280"/>
            <a:ext cx="182880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4231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 Not just "which tool" -- but "is it even feasible?"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346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 Transcript context prevents silent assumption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2461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 Bystander edits evaluated for coding consequence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6576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 Scoring weights tuned for iPSC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069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9E77"/>
                </a:solidFill>
                <a:latin typeface="Calibri"/>
              </a:defRPr>
            </a:pPr>
            <a:r>
              <a:t>▸  30-case ClinVar benchmark, zero fabrication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v1 Foundation: 6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24,000 lines of code | Validated against 4 datasets | 71% concordance with 14 papers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383280" cy="20116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73152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9E77"/>
                </a:solidFill>
                <a:latin typeface="Calibri"/>
              </a:defRPr>
            </a:pPr>
            <a:r>
              <a:t>ConversionSim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HDR gene conversion tract</a:t>
            </a:r>
            <a:br/>
            <a:r>
              <a:t>simulation &amp; cssDNA modeling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1463040"/>
            <a:ext cx="3383280" cy="20116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79" y="1554480"/>
            <a:ext cx="731520" cy="36576"/>
          </a:xfrm>
          <a:prstGeom prst="rect">
            <a:avLst/>
          </a:prstGeom>
          <a:solidFill>
            <a:srgbClr val="D95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5F02"/>
                </a:solidFill>
                <a:latin typeface="Calibri"/>
              </a:defRPr>
            </a:pPr>
            <a:r>
              <a:t>MOSAIC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2402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Strategy enumeration engine</a:t>
            </a:r>
            <a:br/>
            <a:r>
              <a:t>71% concordance, 14 papers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463040"/>
            <a:ext cx="3383280" cy="20116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19" y="1554480"/>
            <a:ext cx="73152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Calibri"/>
              </a:defRPr>
            </a:pPr>
            <a:r>
              <a:t>TopoPred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22402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cssDNA secondary structure</a:t>
            </a:r>
            <a:br/>
            <a:r>
              <a:t>prediction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3383280" cy="20116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31920"/>
            <a:ext cx="73152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9E77"/>
                </a:solidFill>
                <a:latin typeface="Calibri"/>
              </a:defRPr>
            </a:pPr>
            <a:r>
              <a:t>ChromBridge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3D chromatin distance</a:t>
            </a:r>
            <a:br/>
            <a:r>
              <a:t>estimation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19" y="3840480"/>
            <a:ext cx="3383280" cy="20116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79" y="3931920"/>
            <a:ext cx="731520" cy="36576"/>
          </a:xfrm>
          <a:prstGeom prst="rect">
            <a:avLst/>
          </a:prstGeom>
          <a:solidFill>
            <a:srgbClr val="D95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4069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5F02"/>
                </a:solidFill>
                <a:latin typeface="Calibri"/>
              </a:defRPr>
            </a:pPr>
            <a:r>
              <a:t>LoopSim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6177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Cohesin loop extrusion</a:t>
            </a:r>
            <a:br/>
            <a:r>
              <a:t>simulation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840480"/>
            <a:ext cx="3383280" cy="20116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19" y="3931920"/>
            <a:ext cx="73152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39" y="4069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Calibri"/>
              </a:defRPr>
            </a:pPr>
            <a:r>
              <a:t>WebApp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46177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Interactive Streamlit</a:t>
            </a:r>
            <a:br/>
            <a:r>
              <a:t>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v1 Validation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Quantitative agreement with published experimental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789920" cy="100584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9E77"/>
                </a:solidFill>
                <a:latin typeface="Calibri"/>
              </a:defRPr>
            </a:pPr>
            <a:r>
              <a:t>cssDNA 2.07x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Iyer et al. 2022 reported 1.9x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51760"/>
            <a:ext cx="10789920" cy="100584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9E77"/>
                </a:solidFill>
                <a:latin typeface="Calibri"/>
              </a:defRPr>
            </a:pPr>
            <a:r>
              <a:t>Stagger 1.82x enhancement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Chauhan et al. 2023 reported 1.9x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10789920" cy="100584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5F02"/>
                </a:solidFill>
                <a:latin typeface="Calibri"/>
              </a:defRPr>
            </a:pPr>
            <a:r>
              <a:t>MOSAIC 100%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Base editing cases fully concordant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4023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789920" cy="100584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Calibri"/>
              </a:defRPr>
            </a:pPr>
            <a:r>
              <a:t>4 experimental datasets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Independent validation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5212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Manuscript scope: PLOS Computational Biology (in preparation)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v2? What Was Missing?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Critical gaps that motivated the transcript-aware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 transcript-level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9AA"/>
                </a:solidFill>
                <a:latin typeface="Calibri"/>
              </a:defRPr>
            </a:pPr>
            <a:r>
              <a:t>v1 operated on genomic coordinates without mapping to transcripts, CDS, or codons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 PAM-verified feasibility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88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9AA"/>
                </a:solidFill>
                <a:latin typeface="Calibri"/>
              </a:defRPr>
            </a:pPr>
            <a:r>
              <a:t>Strategy suggestions assumed feasibility without checking actual guide 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83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 coding consequence awareness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9AA"/>
                </a:solidFill>
                <a:latin typeface="Calibri"/>
              </a:defRPr>
            </a:pPr>
            <a:r>
              <a:t>Could not distinguish synonymous from nonsense bystander edits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 explicit rejection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9AA"/>
                </a:solidFill>
                <a:latin typeface="Calibri"/>
              </a:defRPr>
            </a:pPr>
            <a:r>
              <a:t>Infeasible strategies were silently omitted instead of explained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94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 benchmark with real variants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9AA"/>
                </a:solidFill>
                <a:latin typeface="Calibri"/>
              </a:defRPr>
            </a:pPr>
            <a:r>
              <a:t>Validation used synthetic examples, not curated ClinVar pathogenic variants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v2 Architecture: 7-Stage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End-to-end from variant input to ranked strategies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1325880" cy="16459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9E7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Input</a:t>
            </a:r>
            <a:br/>
            <a:r>
              <a:t>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011680"/>
            <a:ext cx="1325880" cy="16459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1488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95F02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6060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Transcript</a:t>
            </a:r>
            <a:br/>
            <a:r>
              <a:t>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011680"/>
            <a:ext cx="1325880" cy="16459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1488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6060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Reference</a:t>
            </a:r>
            <a:br/>
            <a: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2011680"/>
            <a:ext cx="1325880" cy="16459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21488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9E7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6060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Coding</a:t>
            </a:r>
            <a:br/>
            <a:r>
              <a:t>Annotation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2011680"/>
            <a:ext cx="1325880" cy="16459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21488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95F0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6060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Feasibility</a:t>
            </a:r>
            <a:br/>
            <a:r>
              <a:t>(BE/PE/HDR)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2011680"/>
            <a:ext cx="1325880" cy="16459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21488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6060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Strategy</a:t>
            </a:r>
            <a:br/>
            <a:r>
              <a:t>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78440" y="2011680"/>
            <a:ext cx="1325880" cy="16459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78440" y="21488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9E7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260604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Scoring &amp;</a:t>
            </a:r>
            <a:br/>
            <a:r>
              <a:t>Ranking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Calibri"/>
              </a:defRPr>
            </a:pPr>
            <a:r>
              <a:t>Ensembl REST API (GRCh38)  |  Real-time PAM scanning  |  Bystander consequence evaluation  |  Multi-nuclease support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754880"/>
            <a:ext cx="5303520" cy="16459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846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Input → Annotation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2120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chr:pos:ref&gt;alt → gene lookup → transcript selection →</a:t>
            </a:r>
            <a:br/>
            <a:r>
              <a:t>CDS mapping → codon identification → amino acid change →</a:t>
            </a:r>
            <a:br/>
            <a:r>
              <a:t>consequence classification (syn/mis/non/splice/fs)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754880"/>
            <a:ext cx="5303520" cy="16459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846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5F02"/>
                </a:solidFill>
                <a:latin typeface="Calibri"/>
              </a:defRPr>
            </a:pPr>
            <a:r>
              <a:t>Feasibility → Ranking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120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PAM scanning (NGG/NRG) → editing window check →</a:t>
            </a:r>
            <a:br/>
            <a:r>
              <a:t>bystander enumeration → pegRNA/donor design →</a:t>
            </a:r>
            <a:br/>
            <a:r>
              <a:t>weighted scoring → ranked output with rejection reasons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Transcript-Aware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Ensembl REST API integration for GRCh38 coordinate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Genomic position → overlapping gene(s) via Ensembl REST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Gene → canonical transcript (MANE Select preferred)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Transcript → exon boundaries, CDS start/end, strand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CDS coordinate → codon position (1st, 2nd, or 3rd base)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Codon → reference &amp; mutant amino acid (standard genetic code)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Forward and reverse strand handling verified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Reference allele validation against Ensembl genome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41148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t>Example: NF1 c.910C&gt;T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965960"/>
            <a:ext cx="182880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48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chr17:31,232,517  C&gt;T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468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Gene: NF1 (ENSG00000196712)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108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Transcript: ENST00000358273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429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Strand: forward (+)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749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CDS position: 910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069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Codon: CGA → TGA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389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95F02"/>
                </a:solidFill>
                <a:latin typeface="Calibri"/>
              </a:defRPr>
            </a:pPr>
            <a:r>
              <a:t>Amino acid: Arg304 → Ter (Stop)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709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029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74C3C"/>
                </a:solidFill>
                <a:latin typeface="Calibri"/>
              </a:defRPr>
            </a:pPr>
            <a:r>
              <a:t>Consequence: NONSENSE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Coding &amp; Splice Annotation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Consequence classification following ACMG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94960" cy="11887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9E77"/>
                </a:solidFill>
                <a:latin typeface="Calibri"/>
              </a:defRPr>
            </a:pPr>
            <a:r>
              <a:t>Synonymous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No amino acid change; silent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94960" cy="11887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t>Missense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74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Different amino acid; functional impact varies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5394960" cy="11887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Nonsense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Premature stop codon; likely loss-of-function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834640"/>
            <a:ext cx="5394960" cy="11887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5F02"/>
                </a:solidFill>
                <a:latin typeface="Calibri"/>
              </a:defRPr>
            </a:pPr>
            <a:r>
              <a:t>Splice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37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Within 2bp of exon boundary (ACMG canonical)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97680"/>
            <a:ext cx="5394960" cy="11887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5F02"/>
                </a:solidFill>
                <a:latin typeface="Calibri"/>
              </a:defRPr>
            </a:pPr>
            <a:r>
              <a:t>Splice region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Within 3-8bp of exon boundary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297680"/>
            <a:ext cx="5394960" cy="11887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Frameshift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800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Indel not divisible by 3; reading frame disrupted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Calibri"/>
              </a:defRPr>
            </a:pPr>
            <a:r>
              <a:t>HGVS notation generated for all variants  |  Splice proximity scored by distance to nearest exon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Feasibility Engines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PAM-verified strategy assessment for each editing modality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48463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9E77"/>
                </a:solidFill>
                <a:latin typeface="Calibri"/>
              </a:defRPr>
            </a:pPr>
            <a:r>
              <a:t>Base Editing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965960"/>
            <a:ext cx="2103120" cy="27432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ABE window: pos 4-7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328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CBE window: pos 4-8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1693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PAM-verified guide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0098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Bystander edit counting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8503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Consequence of each bystander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SpCas9 (NGG) + enFnCas9 (NRG)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566160" cy="48463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95F02"/>
                </a:solidFill>
                <a:latin typeface="Calibri"/>
              </a:defRPr>
            </a:pPr>
            <a:r>
              <a:t>Prime Editing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965960"/>
            <a:ext cx="2103120" cy="27432"/>
          </a:xfrm>
          <a:prstGeom prst="rect">
            <a:avLst/>
          </a:prstGeom>
          <a:solidFill>
            <a:srgbClr val="D95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1488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pegRNA design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328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PBS length: 13 nt (default)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91693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RT template: 10-30 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30098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PE3 nicking guide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68503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Nick-to-edit distance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0690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All mutation types supported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371600"/>
            <a:ext cx="3566160" cy="48463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107"/>
                </a:solidFill>
                <a:latin typeface="Calibri"/>
              </a:defRPr>
            </a:pPr>
            <a:r>
              <a:t>HDR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1965960"/>
            <a:ext cx="210312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1488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Cut-to-edit distance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5328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Donor type 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91693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ssODN vs. plasmid selection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30098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Conversion probability estimate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68503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Homology arm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0690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DSB-dependent (risk noted)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Scoring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Weighted multi-objective scoring tuned for iPSC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789920" cy="10972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Score = w1·Safety + w2·Feasibility - w3·Complexity - w4·Risk + w5·Confidence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5029200" cy="3657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iPSC Weight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77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246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Highest weight -- iPSC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5F02"/>
                </a:solidFill>
                <a:latin typeface="Calibri"/>
              </a:defRPr>
            </a:pPr>
            <a:r>
              <a:t>Feasibility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749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749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PAM availability, window placement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Calibri"/>
              </a:defRPr>
            </a:pPr>
            <a:r>
              <a:t>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251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pegRNA design, donor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754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754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DSB dependence, off-target potential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Calibri"/>
              </a:defRPr>
            </a:pPr>
            <a:r>
              <a:t>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257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257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Literature support, validated parameters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2743200"/>
            <a:ext cx="5486400" cy="3657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5F02"/>
                </a:solidFill>
                <a:latin typeface="Calibri"/>
              </a:defRPr>
            </a:pPr>
            <a:r>
              <a:t>Consequence-Based Penalties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Splice site disruption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-0.15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749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Bystander nonsense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-0.25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Bystander missense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251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5F02"/>
                </a:solidFill>
                <a:latin typeface="Calibri"/>
              </a:defRPr>
            </a:pPr>
            <a:r>
              <a:t>-0.10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DSB-free bonus (BE/PE)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754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+0.10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257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Clean edit (no bystander)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5257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+0.05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852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Calibri"/>
              </a:defRPr>
            </a:pPr>
            <a:r>
              <a:t>DSB-free strategies always score higher in iPSC 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Benchmark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30 curated ClinVar cases with tiered truth labels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468880" cy="10972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9E77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ClinVar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10972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95F02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Mutation 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2468880" cy="10972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C107"/>
                </a:solidFill>
                <a:latin typeface="Calibri"/>
              </a:defRPr>
            </a:pPr>
            <a:r>
              <a:t>3-Tier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Truth Labels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371600"/>
            <a:ext cx="2468880" cy="10972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GRCh38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Verified Coords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34640"/>
            <a:ext cx="10789920" cy="329184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260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11 Mutation 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C&gt;T / G&gt;A transitions (CBE-compatible)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A&gt;G / T&gt;C transitions (ABE-compatible)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C&gt;G / C&gt;A transversions (PE required)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86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Small insertions (1-3 bp)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886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Small deletions (1-5 bp)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886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Large deletions (&gt;20 bp)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Splice site variants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Nonsense mutations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Multi-nucleotide variants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Compound heterozygous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92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▸  Edge cases (non-coding, PAM-less)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  <a:latin typeface="Calibri"/>
              </a:defRPr>
            </a:pPr>
            <a:r>
              <a:t>Truth labels: Preferred (gold standard) | Acceptable (valid alternative) | Reject (infeasible)   --   All coordinates verified against Ensembl, zero fabrication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Results: Overall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30/30 cases executed successfully with zero errors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51760" cy="27432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9E77"/>
                </a:solidFill>
                <a:latin typeface="Calibri"/>
              </a:defRPr>
            </a:pPr>
            <a:r>
              <a:t>86.7%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Top-1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Calibri"/>
              </a:defRPr>
            </a:pPr>
            <a:r>
              <a:t>26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54480"/>
            <a:ext cx="2651760" cy="27432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7373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95F02"/>
                </a:solidFill>
                <a:latin typeface="Calibri"/>
              </a:defRPr>
            </a:pPr>
            <a:r>
              <a:t>96.7%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60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Top-3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108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Calibri"/>
              </a:defRPr>
            </a:pPr>
            <a:r>
              <a:t>29 /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2651760" cy="27432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C107"/>
                </a:solidFill>
                <a:latin typeface="Calibri"/>
              </a:defRPr>
            </a:pPr>
            <a:r>
              <a:t>90.0%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60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Rejection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108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Calibri"/>
              </a:defRPr>
            </a:pPr>
            <a:r>
              <a:t>27 / 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554480"/>
            <a:ext cx="2651760" cy="27432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7373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560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Execution 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108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Calibri"/>
              </a:defRPr>
            </a:pPr>
            <a:r>
              <a:t>30 / 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789920" cy="16459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Top-Ranked Strategy Distribution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212080"/>
            <a:ext cx="7772400" cy="365760"/>
          </a:xfrm>
          <a:prstGeom prst="roundRect">
            <a:avLst/>
          </a:prstGeom>
          <a:solidFill>
            <a:srgbClr val="D95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52120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PE: 29 / 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669280"/>
            <a:ext cx="274320" cy="36576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107"/>
                </a:solidFill>
                <a:latin typeface="Calibri"/>
              </a:defRPr>
            </a:pPr>
            <a:r>
              <a:t>HDR: 1 / 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BE: 0 / 30  (PAM window bottleneck -- see Slide 15)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Results: Per-Category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Category-level breakdown of Top-1 and Top-3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77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77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77"/>
                </a:solidFill>
                <a:latin typeface="Calibri"/>
              </a:defRPr>
            </a:pPr>
            <a:r>
              <a:t>Top-1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77"/>
                </a:solidFill>
                <a:latin typeface="Calibri"/>
              </a:defRPr>
            </a:pPr>
            <a:r>
              <a:t>Top-3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77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10789920" cy="18288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Clean BE (CBE/ABE)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83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783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83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All correct, but none top-ranked as 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94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PE transversions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1945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PE correctly top-ranked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06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PE small insertions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606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606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606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PE correctly top-ranked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017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PE small deletions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017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PE correctly top-ranked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Compound heterozygous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4290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429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429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Both alleles handled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840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Edge cases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38404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840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3840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Non-coding, PAM-less correctly rejected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Nonsense mutations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251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51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4251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251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1 case: PE ranked over HDR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663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Splice variants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160" y="4663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4663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4663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Splice-aware penalties applied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074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Multi-nucleotide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160" y="5074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5074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5074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5074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Complex variants handled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486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Large deletions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5486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5486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5486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5486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HDR preferred but PE ranked higher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D95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PAM-Editing Window Is the Real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The most important result of this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789920" cy="2011680"/>
          </a:xfrm>
          <a:prstGeom prst="roundRect">
            <a:avLst/>
          </a:prstGeom>
          <a:solidFill>
            <a:srgbClr val="2A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95F02"/>
                </a:solidFill>
                <a:latin typeface="Calibri"/>
              </a:defRPr>
            </a:pPr>
            <a:r>
              <a:t>At ALL 7 ClinVar loci with ABE-compatible transitions (A&gt;G / T&gt;C),</a:t>
            </a:r>
            <a:br/>
            <a:r>
              <a:t>NO SpCas9 guide placed the target base at ABE positions 4-7.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The PAM-dependent editing window is MORE restrictive than mutation type.</a:t>
            </a:r>
            <a:br/>
            <a:r>
              <a:t>Mutation-type classification alone is INSUFFICIENT for strategy selection.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5120640" cy="25603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9E77"/>
                </a:solidFill>
                <a:latin typeface="Calibri"/>
              </a:defRPr>
            </a:pPr>
            <a:r>
              <a:t>Implications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Locus-specific PAM scanning is essential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Mutation classification alone is misleading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PE dominates because it has no editing window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This explains PE = 29/30 top-ranked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840480"/>
            <a:ext cx="5394960" cy="25603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FFC107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Most tools classify by mutation type only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FFC107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A&gt;G does NOT mean ABE will work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FFC107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PAM context must be checked in silico first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FFC107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CRISPRArchitect does this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enFnCas9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Our lab's engineered nuclease with broader PAM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Developed in our lab (Chakraborty et al.)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Engineered FnCas9 with enhanced activity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NRG PAM -- broader than SpCas9 NGG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First-class support in CRISPRArchitect v2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5029200" cy="2286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PAM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SpCas9:     NGG  (16 possible dinucleotides)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77"/>
                </a:solidFill>
                <a:latin typeface="Calibri"/>
              </a:defRPr>
            </a:pPr>
            <a:r>
              <a:t>enFnCas9:  NRG  (8 possible trinucleotides, 2x coverage)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9AA"/>
                </a:solidFill>
                <a:latin typeface="Calibri"/>
              </a:defRPr>
            </a:pPr>
            <a:r>
              <a:t>Broader PAM = more guides = better chance of</a:t>
            </a:r>
            <a:br/>
            <a:r>
              <a:t>placing target in editing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63040"/>
            <a:ext cx="5486400" cy="4572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5F02"/>
                </a:solidFill>
                <a:latin typeface="Calibri"/>
              </a:defRPr>
            </a:pPr>
            <a:r>
              <a:t>Potential Impact on BE Feasibility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965960"/>
            <a:ext cx="2286000" cy="18288"/>
          </a:xfrm>
          <a:prstGeom prst="rect">
            <a:avLst/>
          </a:prstGeom>
          <a:solidFill>
            <a:srgbClr val="D95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7/7 ABE-compatible loci failed with SpCas9 NGG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NRG PAM could rescue some of these loci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2x PAM coverage doubles potential guide sites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CRISPRArchitect already searches both PAMs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Future: quantify rescue rate across full ClinVar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303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Calibri"/>
              </a:defRPr>
            </a:pPr>
            <a:r>
              <a:t>enFnCas9 + CRISPRArchitect: a natural synergy</a:t>
            </a:r>
            <a:br/>
            <a:r>
              <a:t>between our wet lab and computational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Technical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Codebase, testing, and reproducibility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06040" cy="105156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9E77"/>
                </a:solidFill>
                <a:latin typeface="Calibri"/>
              </a:defRPr>
            </a:pPr>
            <a:r>
              <a:t>24,000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v1 LOC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63040"/>
            <a:ext cx="2606040" cy="105156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6002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95F02"/>
                </a:solidFill>
                <a:latin typeface="Calibri"/>
              </a:defRPr>
            </a:pPr>
            <a:r>
              <a:t>11,002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031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v2 LOC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606040" cy="105156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002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C107"/>
                </a:solidFill>
                <a:latin typeface="Calibri"/>
              </a:defRPr>
            </a:pPr>
            <a:r>
              <a:t>~35,000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Total LOC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463040"/>
            <a:ext cx="2606040" cy="105156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6002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  <a:latin typeface="Calibri"/>
              </a:defRPr>
            </a:pPr>
            <a:r>
              <a:t>123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1031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Tests Passing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43200"/>
            <a:ext cx="2606040" cy="105156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9E7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v1 Modules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2743200"/>
            <a:ext cx="2606040" cy="105156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28803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95F02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3832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v2 New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743200"/>
            <a:ext cx="2606040" cy="105156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8803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C107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3832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Total Files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2743200"/>
            <a:ext cx="2606040" cy="105156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8803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3832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Regressions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206240"/>
            <a:ext cx="5029200" cy="2286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97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Reproducibility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6634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GRCh38 coordinates verified against Ensembl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API retry logic with exponential backoff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Seed-based simulations for deterministic output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All benchmark results reproducible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4206240"/>
            <a:ext cx="5486400" cy="2286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4297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5F02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663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Python 3.9+  |  NumPy  |  Pandas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Streamlit (WebApp)  |  Biopython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Ensembl REST API  |  pytest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GitHub: github.com/visvikbharti/CRISPRArchitect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Honest assessment of current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9496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74C3C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447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No experimental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745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All results are computational; wet-lab confirmation is 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9496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95F02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4447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5F02"/>
                </a:solidFill>
                <a:latin typeface="Calibri"/>
              </a:defRPr>
            </a:pPr>
            <a:r>
              <a:t>Simplified CDS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745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Uses canonical transcript only; does not handle alternative splicing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539496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95F02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906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5F02"/>
                </a:solidFill>
                <a:latin typeface="Calibri"/>
              </a:defRPr>
            </a:pPr>
            <a:r>
              <a:t>No chromatin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20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Does not integrate ATAC-seq or chromatin accessibility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017520"/>
            <a:ext cx="539496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95F02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0906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5F02"/>
                </a:solidFill>
                <a:latin typeface="Calibri"/>
              </a:defRPr>
            </a:pPr>
            <a:r>
              <a:t>No off-target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20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Guide specificity scoring not yet incorporated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539496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709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74C3C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7365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Large deletions poorly handled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1663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0/3 Top-1 accuracy; PE over-ranked vs. HDR for &gt;20bp deletions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663440"/>
            <a:ext cx="539496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709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107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7365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Calibri"/>
              </a:defRPr>
            </a:pPr>
            <a:r>
              <a:t>BE applicability lower than expected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1663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PAM constraints reduce practical BE feasibility significantly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Roadmap for CRISPRArchitect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9496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4447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B9E77"/>
                </a:solidFill>
                <a:latin typeface="Calibri"/>
              </a:defRPr>
            </a:pPr>
            <a:r>
              <a:t>Near-term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9E77"/>
                </a:solidFill>
                <a:latin typeface="Calibri"/>
              </a:defRPr>
            </a:pPr>
            <a:r>
              <a:t>Experimental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Test top-ranked strategies in iPSC 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9496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14447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B9E77"/>
                </a:solidFill>
                <a:latin typeface="Calibri"/>
              </a:defRPr>
            </a:pPr>
            <a:r>
              <a:t>Near-term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9E77"/>
                </a:solidFill>
                <a:latin typeface="Calibri"/>
              </a:defRPr>
            </a:pPr>
            <a:r>
              <a:t>Chromatin Accessibility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Integrate ATAC-seq data for guide efficiency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539496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0906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95F02"/>
                </a:solidFill>
                <a:latin typeface="Calibri"/>
              </a:defRPr>
            </a:pPr>
            <a:r>
              <a:t>Medium-term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95F02"/>
                </a:solidFill>
                <a:latin typeface="Calibri"/>
              </a:defRPr>
            </a:pPr>
            <a:r>
              <a:t>ML-Based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Train on experimental outcomes to refine weights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017520"/>
            <a:ext cx="539496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30906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95F02"/>
                </a:solidFill>
                <a:latin typeface="Calibri"/>
              </a:defRPr>
            </a:pPr>
            <a:r>
              <a:t>Medium-term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95F02"/>
                </a:solidFill>
                <a:latin typeface="Calibri"/>
              </a:defRPr>
            </a:pPr>
            <a:r>
              <a:t>HGVS Parser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66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Accept clinical variant notation as input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539496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47365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C107"/>
                </a:solidFill>
                <a:latin typeface="Calibri"/>
              </a:defRPr>
            </a:pPr>
            <a:r>
              <a:t>Medium-term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C107"/>
                </a:solidFill>
                <a:latin typeface="Calibri"/>
              </a:defRPr>
            </a:pPr>
            <a:r>
              <a:t>Off-Target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12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Incorporate Cas-OFFinder or similar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663440"/>
            <a:ext cx="539496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47365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C107"/>
                </a:solidFill>
                <a:latin typeface="Calibri"/>
              </a:defRPr>
            </a:pPr>
            <a:r>
              <a:t>Long-term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C107"/>
                </a:solidFill>
                <a:latin typeface="Calibri"/>
              </a:defRPr>
            </a:pPr>
            <a:r>
              <a:t>Clinical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212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Generate structured reports for clinical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926080"/>
            <a:ext cx="301752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B9E77"/>
                </a:solidFill>
                <a:latin typeface="Calibri"/>
              </a:defRPr>
            </a:pPr>
            <a:r>
              <a:t>CRISPRArchitect: Transcript-Aware Genome Editing Strategy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114800"/>
            <a:ext cx="5760720" cy="146304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251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github.com/visvikbharti/CRISPRArchitect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7548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Calibri"/>
              </a:defRPr>
            </a:pPr>
            <a:r>
              <a:t>Vishal Bharti  |  Debojyoti Chakraborty Lab  |  CSIR-IGIB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EEF4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